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3" name="Picture 2" descr="p_cover.png"/>
          <p:cNvPicPr>
            <a:picLocks noChangeAspect="1"/>
          </p:cNvPicPr>
          <p:nvPr/>
        </p:nvPicPr>
        <p:blipFill>
          <a:blip r:embed="rId2"/>
          <a:srcRect l="26439" r="26439"/>
          <a:stretch>
            <a:fillRect/>
          </a:stretch>
        </p:blipFill>
        <p:spPr>
          <a:xfrm>
            <a:off x="6446520" y="0"/>
            <a:ext cx="57451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72200" y="0"/>
            <a:ext cx="502920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INTERNAL ENGINEERING TRAINING · 2026 R2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371600" cy="20320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500" b="1" i="0">
                <a:solidFill>
                  <a:srgbClr val="F4F1EA"/>
                </a:solidFill>
                <a:latin typeface="Georgia"/>
              </a:rPr>
              <a:t>Library / IP 资料管理实务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500"/>
              </a:spcAft>
            </a:pPr>
            <a:r>
              <a:rPr sz="1550" b="0" i="0">
                <a:solidFill>
                  <a:srgbClr val="C2CCD8"/>
                </a:solidFill>
                <a:latin typeface="Calibri"/>
              </a:rPr>
              <a:t>用 TLM 把工艺库变成可交付、可冻结、可复现的工程资产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224528"/>
            <a:ext cx="5029200" cy="11430"/>
          </a:xfrm>
          <a:prstGeom prst="rect">
            <a:avLst/>
          </a:prstGeom>
          <a:solidFill>
            <a:srgbClr val="3A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443984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8EA2B8"/>
                </a:solidFill>
                <a:latin typeface="Calibri"/>
              </a:rPr>
              <a:t>适用对象　　</a:t>
            </a:r>
            <a:r>
              <a:rPr sz="1150" b="0">
                <a:solidFill>
                  <a:srgbClr val="D6DDE4"/>
                </a:solidFill>
                <a:latin typeface="Calibri"/>
              </a:rPr>
              <a:t>Library Kit Manager · 芯片项目管理人 · CAD/流程负责人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8EA2B8"/>
                </a:solidFill>
                <a:latin typeface="Calibri"/>
              </a:rPr>
              <a:t>课程结构　　</a:t>
            </a:r>
            <a:r>
              <a:rPr sz="1150" b="0">
                <a:solidFill>
                  <a:srgbClr val="D6DDE4"/>
                </a:solidFill>
                <a:latin typeface="Calibri"/>
              </a:rPr>
              <a:t>7 个模块 · 5 条命令逐一实例 · 1 条贯穿全程的演示产品线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8EA2B8"/>
                </a:solidFill>
                <a:latin typeface="Calibri"/>
              </a:rPr>
              <a:t>配套文档　　</a:t>
            </a:r>
            <a:r>
              <a:rPr sz="1150" b="0">
                <a:solidFill>
                  <a:srgbClr val="D6DDE4"/>
                </a:solidFill>
                <a:latin typeface="Calibri"/>
              </a:rPr>
              <a:t>《TLM 使用手册》(命令级规格) · 《TLM Reference Book》(角色手册)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1908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D8B9C"/>
                </a:solidFill>
                <a:latin typeface="Georgia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ORIENTATION · 你上完这门课能做什么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465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这门课交付三种能力，不交付工具介绍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0170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左侧是岗位每天要做的决定，右侧是本课程对应的可操作产物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5486400" cy="3877056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55648"/>
            <a:ext cx="45720" cy="3877056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3852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53B"/>
                </a:solidFill>
                <a:latin typeface="Calibri"/>
              </a:rPr>
              <a:t>Kit 管理者 / 项目管理员要能独立回答的问题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2257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62" b="1">
                <a:solidFill>
                  <a:srgbClr val="4E6076"/>
                </a:solidFill>
                <a:latin typeface="Calibri"/>
              </a:rPr>
              <a:t>▪  </a:t>
            </a:r>
            <a:r>
              <a:rPr sz="1180" b="0">
                <a:solidFill>
                  <a:srgbClr val="242B33"/>
                </a:solidFill>
                <a:latin typeface="Calibri"/>
              </a:rPr>
              <a:t>Foundry 送来一个目录，多久能变成可安装、可回滚的包？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62" b="1">
                <a:solidFill>
                  <a:srgbClr val="4E6076"/>
                </a:solidFill>
                <a:latin typeface="Calibri"/>
              </a:rPr>
              <a:t>▪  </a:t>
            </a:r>
            <a:r>
              <a:rPr sz="1180" b="0">
                <a:solidFill>
                  <a:srgbClr val="242B33"/>
                </a:solidFill>
                <a:latin typeface="Calibri"/>
              </a:rPr>
              <a:t>设计团队说“我要 r1.0 全套 + HF3”，我给的是什么、凭什么复现？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62" b="1">
                <a:solidFill>
                  <a:srgbClr val="4E6076"/>
                </a:solidFill>
                <a:latin typeface="Calibri"/>
              </a:rPr>
              <a:t>▪  </a:t>
            </a:r>
            <a:r>
              <a:rPr sz="1180" b="0">
                <a:solidFill>
                  <a:srgbClr val="242B33"/>
                </a:solidFill>
                <a:latin typeface="Calibri"/>
              </a:rPr>
              <a:t>Tapeout 那天，我怎么证明三个月后还能装出一模一样的库？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62" b="1">
                <a:solidFill>
                  <a:srgbClr val="4E6076"/>
                </a:solidFill>
                <a:latin typeface="Calibri"/>
              </a:rPr>
              <a:t>▪  </a:t>
            </a:r>
            <a:r>
              <a:rPr sz="1180" b="0">
                <a:solidFill>
                  <a:srgbClr val="242B33"/>
                </a:solidFill>
                <a:latin typeface="Calibri"/>
              </a:rPr>
              <a:t>hotfix 一个月来三次，谁在跟谁、谁已经升级、谁掉队了？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62" b="1">
                <a:solidFill>
                  <a:srgbClr val="4E6076"/>
                </a:solidFill>
                <a:latin typeface="Calibri"/>
              </a:rPr>
              <a:t>▪  </a:t>
            </a:r>
            <a:r>
              <a:rPr sz="1180" b="0">
                <a:solidFill>
                  <a:srgbClr val="242B33"/>
                </a:solidFill>
                <a:latin typeface="Calibri"/>
              </a:rPr>
              <a:t>工具没报错 = 装对了吗？（本课最大的一条反直觉）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1755648"/>
            <a:ext cx="5297119" cy="3877056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1755648"/>
            <a:ext cx="45720" cy="3877056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938528"/>
            <a:ext cx="4839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E6076"/>
                </a:solidFill>
                <a:latin typeface="Calibri"/>
              </a:rPr>
              <a:t>课程结束时你手上会有的东西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322576"/>
            <a:ext cx="48399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62" b="1">
                <a:solidFill>
                  <a:srgbClr val="4E6076"/>
                </a:solidFill>
                <a:latin typeface="Calibri"/>
              </a:rPr>
              <a:t>▪  </a:t>
            </a:r>
            <a:r>
              <a:rPr sz="1180" b="0">
                <a:solidFill>
                  <a:srgbClr val="242B33"/>
                </a:solidFill>
                <a:latin typeface="Calibri"/>
              </a:rPr>
              <a:t>一条“收 → 包 → 登 → 验 → 冻 → 复现”的可执行发布流水线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62" b="1">
                <a:solidFill>
                  <a:srgbClr val="4E6076"/>
                </a:solidFill>
                <a:latin typeface="Calibri"/>
              </a:rPr>
              <a:t>▪  </a:t>
            </a:r>
            <a:r>
              <a:rPr sz="1180" b="0">
                <a:solidFill>
                  <a:srgbClr val="242B33"/>
                </a:solidFill>
                <a:latin typeface="Calibri"/>
              </a:rPr>
              <a:t>一套 11 列发布清单 + .tlp 语法 + DEPN/REQU 的实测可用写法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62" b="1">
                <a:solidFill>
                  <a:srgbClr val="4E6076"/>
                </a:solidFill>
                <a:latin typeface="Calibri"/>
              </a:rPr>
              <a:t>▪  </a:t>
            </a:r>
            <a:r>
              <a:rPr sz="1180" b="0">
                <a:solidFill>
                  <a:srgbClr val="242B33"/>
                </a:solidFill>
                <a:latin typeface="Calibri"/>
              </a:rPr>
              <a:t>一份按岗位拆分的设计团队最小集与交付三件套模板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62" b="1">
                <a:solidFill>
                  <a:srgbClr val="4E6076"/>
                </a:solidFill>
                <a:latin typeface="Calibri"/>
              </a:rPr>
              <a:t>▪  </a:t>
            </a:r>
            <a:r>
              <a:rPr sz="1180" b="0">
                <a:solidFill>
                  <a:srgbClr val="242B33"/>
                </a:solidFill>
                <a:latin typeface="Calibri"/>
              </a:rPr>
              <a:t>一个冻结档案结构：bundle + configs + packages + md5 + sha256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62" b="1">
                <a:solidFill>
                  <a:srgbClr val="4E6076"/>
                </a:solidFill>
                <a:latin typeface="Calibri"/>
              </a:rPr>
              <a:t>▪  </a:t>
            </a:r>
            <a:r>
              <a:rPr sz="1180" b="0">
                <a:solidFill>
                  <a:srgbClr val="242B33"/>
                </a:solidFill>
                <a:latin typeface="Calibri"/>
              </a:rPr>
              <a:t>一张坑清单：12 个静默失效点，以及对应的一次性修补与 CI 门禁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17253B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本课程以“能复现”为唯一验收标准：任何讲过的命令与输出都在 Linux + csh + gawk 5.2 环境实跑过，案例数据可直接核对。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COURSE MAP · SEVEN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结构：M1–M2 讲怎么整理与发布，M3–M4 讲怎么交付与冻结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建议管理者全程；设计团队负责人至少完成 M1 / M3 / M4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60727"/>
          <a:ext cx="11057837" cy="36248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422"/>
                <a:gridCol w="2041447"/>
                <a:gridCol w="5443859"/>
                <a:gridCol w="765542"/>
                <a:gridCol w="2211567"/>
              </a:tblGrid>
              <a:tr h="29641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4F1EA"/>
                          </a:solidFill>
                          <a:latin typeface="Calibri"/>
                        </a:rPr>
                        <a:t>模块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4F1EA"/>
                          </a:solidFill>
                          <a:latin typeface="Calibri"/>
                        </a:rPr>
                        <a:t>主题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4F1EA"/>
                          </a:solidFill>
                          <a:latin typeface="Calibri"/>
                        </a:rPr>
                        <a:t>内容要点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4F1EA"/>
                          </a:solidFill>
                          <a:latin typeface="Calibri"/>
                        </a:rPr>
                        <a:t>篇幅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4F1EA"/>
                          </a:solidFill>
                          <a:latin typeface="Calibri"/>
                        </a:rPr>
                        <a:t>谁必听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253B"/>
                          </a:solidFill>
                          <a:latin typeface="Calibri"/>
                        </a:rPr>
                        <a:t>M0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定位与全景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TLM 解决什么、不解决什么；一条链上的五个物件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6 页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所有人：建立共同语言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253B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资料模型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三层数据对象、目录与命名规范、状态由标记决定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6 页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所有人：读懂 .tlp / .dts / .tgz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253B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整理与发布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tlp_pack / tlp_import、清单、hotfix、不可变发布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10 页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Kit 管理者核心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253B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交付设计团队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bundle 语义、岗位最小集、装机升级、通告模板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9 页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让工程师自助且不犯错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253B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项目治理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生命周期动作、冻结四件套、复现证明、审计度量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9 页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项目负责人核心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253B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坑 · CI · 运维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12 条静默失效、三处补丁、流水线门禁、命令家族收尾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7 页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把偶发事故变成制度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253B"/>
                          </a:solidFill>
                          <a:latin typeface="Calibri"/>
                        </a:rPr>
                        <a:t>M6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落地与速查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30/60/90 天路线、两张速查卡、结课测验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6 页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42B33"/>
                          </a:solidFill>
                          <a:latin typeface="Calibri"/>
                        </a:rPr>
                        <a:t>回去就能开干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M2 + M4 是管理者与项目负责人的两条主线：一条把资料“整理成产品”，一条把产品“冻结成证据”。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BIG PICTURE · 一条链看懂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从 Foundry 的一个目录，到别人机器上可复现的 techLib，只有 5 个物件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每一环都可版本控制、可校验、可重放——这就是“资料管理”的全部含义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42439"/>
            <a:ext cx="1234440" cy="758952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142439"/>
            <a:ext cx="100584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F1EA"/>
                </a:solidFill>
                <a:latin typeface="Calibri"/>
              </a:rPr>
              <a:t>输入层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8528" y="2142439"/>
            <a:ext cx="4742535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B9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8528" y="2142439"/>
            <a:ext cx="41148" cy="758952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2243023"/>
            <a:ext cx="441335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</a:pPr>
            <a:r>
              <a:rPr sz="1180" b="1" i="0">
                <a:solidFill>
                  <a:srgbClr val="17253B"/>
                </a:solidFill>
                <a:latin typeface="Calibri"/>
              </a:rPr>
              <a:t>裸 design kit 目录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2B33"/>
                </a:solidFill>
                <a:latin typeface="Calibri"/>
              </a:rPr>
              <a:t>Foundry / IP vendor 的交付物，落地即只读归档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82231" y="2142439"/>
            <a:ext cx="4742535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B9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82231" y="2142439"/>
            <a:ext cx="41148" cy="758952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65111" y="2243023"/>
            <a:ext cx="441335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</a:pPr>
            <a:r>
              <a:rPr sz="1180" b="1" i="0">
                <a:solidFill>
                  <a:srgbClr val="17253B"/>
                </a:solidFill>
                <a:latin typeface="Calibri"/>
              </a:rPr>
              <a:t>发布清单 lists/*.csv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2B33"/>
                </a:solidFill>
                <a:latin typeface="Calibri"/>
              </a:rPr>
              <a:t>11 列，人和流程唯一的意图表达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029407"/>
            <a:ext cx="1234440" cy="758952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029407"/>
            <a:ext cx="100584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F1EA"/>
                </a:solidFill>
                <a:latin typeface="Calibri"/>
              </a:rPr>
              <a:t>加工层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38528" y="3029407"/>
            <a:ext cx="4742535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B9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38528" y="3029407"/>
            <a:ext cx="41148" cy="758952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1408" y="3129991"/>
            <a:ext cx="441335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</a:pPr>
            <a:r>
              <a:rPr sz="1180" b="1" i="0">
                <a:solidFill>
                  <a:srgbClr val="17253B"/>
                </a:solidFill>
                <a:latin typeface="Calibri"/>
              </a:rPr>
              <a:t>tlp_pack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2B33"/>
                </a:solidFill>
                <a:latin typeface="Calibri"/>
              </a:rPr>
              <a:t>产出 configs/*.tlp + packages/*.tgz + *.bundle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82231" y="3029407"/>
            <a:ext cx="4742535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B9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82231" y="3029407"/>
            <a:ext cx="41148" cy="758952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65111" y="3129991"/>
            <a:ext cx="441335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</a:pPr>
            <a:r>
              <a:rPr sz="1180" b="1" i="0">
                <a:solidFill>
                  <a:srgbClr val="17253B"/>
                </a:solidFill>
                <a:latin typeface="Calibri"/>
              </a:rPr>
              <a:t>tlp_import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2B33"/>
                </a:solidFill>
                <a:latin typeface="Calibri"/>
              </a:rPr>
              <a:t>登记 catalog；载荷缺失即整包拒收（质量门禁）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916375"/>
            <a:ext cx="1234440" cy="758952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916375"/>
            <a:ext cx="100584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F1EA"/>
                </a:solidFill>
                <a:latin typeface="Calibri"/>
              </a:rPr>
              <a:t>服务层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38528" y="3916375"/>
            <a:ext cx="4742535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B9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38528" y="3916375"/>
            <a:ext cx="41148" cy="758952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21408" y="4016959"/>
            <a:ext cx="441335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</a:pPr>
            <a:r>
              <a:rPr sz="1180" b="1" i="0">
                <a:solidFill>
                  <a:srgbClr val="17253B"/>
                </a:solidFill>
                <a:latin typeface="Calibri"/>
              </a:rPr>
              <a:t>dataSheets/*.dts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2B33"/>
                </a:solidFill>
                <a:latin typeface="Calibri"/>
              </a:rPr>
              <a:t>按 节点/版本/分组/类型 归档，工程师可自选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82231" y="3916375"/>
            <a:ext cx="4742535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B9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82231" y="3916375"/>
            <a:ext cx="41148" cy="758952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5111" y="4016959"/>
            <a:ext cx="441335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</a:pPr>
            <a:r>
              <a:rPr sz="1180" b="1" i="0">
                <a:solidFill>
                  <a:srgbClr val="17253B"/>
                </a:solidFill>
                <a:latin typeface="Calibri"/>
              </a:rPr>
              <a:t>techLib（每人一份）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2B33"/>
                </a:solidFill>
                <a:latin typeface="Calibri"/>
              </a:rPr>
              <a:t>tlp_install 解包 + 写已装标记 + 记账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803343"/>
            <a:ext cx="1234440" cy="758952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" y="4803343"/>
            <a:ext cx="100584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F1EA"/>
                </a:solidFill>
                <a:latin typeface="Calibri"/>
              </a:rPr>
              <a:t>证据层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38528" y="4803343"/>
            <a:ext cx="4742535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B9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38528" y="4803343"/>
            <a:ext cx="41148" cy="758952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21408" y="4903927"/>
            <a:ext cx="441335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</a:pPr>
            <a:r>
              <a:rPr sz="1180" b="1" i="0">
                <a:solidFill>
                  <a:srgbClr val="17253B"/>
                </a:solidFill>
                <a:latin typeface="Calibri"/>
              </a:rPr>
              <a:t>bundle（清单）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2B33"/>
                </a:solidFill>
                <a:latin typeface="Calibri"/>
              </a:rPr>
              <a:t>顺序即依赖顺序，一条命令重装整套库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82231" y="4803343"/>
            <a:ext cx="4742535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B9C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82231" y="4803343"/>
            <a:ext cx="41148" cy="758952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65111" y="4903927"/>
            <a:ext cx="441335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</a:pPr>
            <a:r>
              <a:rPr sz="1180" b="1" i="0">
                <a:solidFill>
                  <a:srgbClr val="17253B"/>
                </a:solidFill>
                <a:latin typeface="Calibri"/>
              </a:rPr>
              <a:t>冻结档案 + md5/sha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2B33"/>
                </a:solidFill>
                <a:latin typeface="Calibri"/>
              </a:rPr>
              <a:t>清单 + 定义 + 包 + 校验和，只读封存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617159"/>
            <a:ext cx="11057839" cy="384048"/>
          </a:xfrm>
          <a:prstGeom prst="rect">
            <a:avLst/>
          </a:prstGeom>
          <a:solidFill>
            <a:srgbClr val="0F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" y="5672023"/>
            <a:ext cx="1061892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1">
                <a:solidFill>
                  <a:srgbClr val="A8842E"/>
                </a:solidFill>
                <a:latin typeface="Calibri"/>
              </a:rPr>
              <a:t>治理底座　</a:t>
            </a:r>
            <a:r>
              <a:rPr sz="1120" b="0">
                <a:solidFill>
                  <a:srgbClr val="D6DDE4"/>
                </a:solidFill>
                <a:latin typeface="Calibri"/>
              </a:rPr>
              <a:t>SKU 与 SDIR 命名规范 · 不可变发布 · 目录权限只读 · 四张审计报表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17253B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TLM 只做“搬运 + 记录状态”。真正的治理靠你设计的四个工件：清单、bundle、catalog、冻结档案。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PROBLEM STATEMENT · 不管理的代价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工艺库失控的五种典型症状，以及它们各自吃掉的时间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数字取自同类团队的常见量级，用于排优先级，不是承诺值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60727"/>
          <a:ext cx="11057837" cy="28567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5301"/>
                <a:gridCol w="5273738"/>
                <a:gridCol w="4167954"/>
                <a:gridCol w="1190844"/>
              </a:tblGrid>
              <a:tr h="29641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4F1EA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4F1EA"/>
                          </a:solidFill>
                          <a:latin typeface="Calibri"/>
                        </a:rPr>
                        <a:t>症状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4F1EA"/>
                          </a:solidFill>
                          <a:latin typeface="Calibri"/>
                        </a:rPr>
                        <a:t>本课的处置（对应命令与工件）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4F1EA"/>
                          </a:solidFill>
                          <a:latin typeface="Calibri"/>
                        </a:rPr>
                        <a:t>紧迫度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7253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42B33"/>
                          </a:solidFill>
                          <a:latin typeface="Calibri"/>
                        </a:rPr>
                        <a:t>Foundry 每周丢一批 tar，没人知道哪份在用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42B33"/>
                          </a:solidFill>
                          <a:latin typeface="Calibri"/>
                        </a:rPr>
                        <a:t>发布清单 + catalog，交付即登记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242B33"/>
                          </a:solidFill>
                          <a:latin typeface="Calibri"/>
                        </a:rPr>
                        <a:t>已覆盖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7253B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42B33"/>
                          </a:solidFill>
                          <a:latin typeface="Calibri"/>
                        </a:rPr>
                        <a:t>工程师各拷一份库，改了就变成“部落知识”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42B33"/>
                          </a:solidFill>
                          <a:latin typeface="Calibri"/>
                        </a:rPr>
                        <a:t>每人一份 techLib + 一条 bundle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242B33"/>
                          </a:solidFill>
                          <a:latin typeface="Calibri"/>
                        </a:rPr>
                        <a:t>已覆盖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7253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42B33"/>
                          </a:solidFill>
                          <a:latin typeface="Calibri"/>
                        </a:rPr>
                        <a:t>hotfix 打了没记录，三个月后说不清版本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42B33"/>
                          </a:solidFill>
                          <a:latin typeface="Calibri"/>
                        </a:rPr>
                        <a:t>.dts 标记 + .tlp_install.summary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242B33"/>
                          </a:solidFill>
                          <a:latin typeface="Calibri"/>
                        </a:rPr>
                        <a:t>已覆盖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7253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42B33"/>
                          </a:solidFill>
                          <a:latin typeface="Calibri"/>
                        </a:rPr>
                        <a:t>Tapeout 后无法复现当日的库，回滚靠记忆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42B33"/>
                          </a:solidFill>
                          <a:latin typeface="Calibri"/>
                        </a:rPr>
                        <a:t>冻结四件套 + md5 + 只读盘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242B33"/>
                          </a:solidFill>
                          <a:latin typeface="Calibri"/>
                        </a:rPr>
                        <a:t>高危遗留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7253B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42B33"/>
                          </a:solidFill>
                          <a:latin typeface="Calibri"/>
                        </a:rPr>
                        <a:t>一次误删/误覆盖造成全项目停摆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42B33"/>
                          </a:solidFill>
                          <a:latin typeface="Calibri"/>
                        </a:rPr>
                        <a:t>不可变发布 + 先备份后操作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242B33"/>
                          </a:solidFill>
                          <a:latin typeface="Calibri"/>
                        </a:rPr>
                        <a:t>高危遗留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263847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17253B"/>
                </a:solidFill>
                <a:latin typeface="Calibri"/>
              </a:rPr>
              <a:t>课程刻意反复重跑同一条命令：</a:t>
            </a:r>
            <a:r>
              <a:rPr sz="1250" b="0">
                <a:solidFill>
                  <a:srgbClr val="242B33"/>
                </a:solidFill>
                <a:latin typeface="Calibri"/>
              </a:rPr>
              <a:t> TLM 的安装是幂等的（已装即跳过），所以“重跑一遍确认”是零风险的验收手段——这是把偶发事故制度化的 cheapest lever。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8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8E2F2A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B / C 是日常损耗，D / E 是一次性灾难。先做冻结档案（D），再谈自动化（B/C）。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ROLES · 谁做什么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三个角色、一条交接线：管理者产出工件，项目负责人冻结基线，工程师消费 bundle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R = 执行　A = 负责　C = 需被咨询　I = 需知会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60727"/>
          <a:ext cx="11057837" cy="35122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2419"/>
                <a:gridCol w="1370806"/>
                <a:gridCol w="1370806"/>
                <a:gridCol w="1462193"/>
                <a:gridCol w="2741613"/>
              </a:tblGrid>
              <a:tr h="29352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4F1EA"/>
                          </a:solidFill>
                          <a:latin typeface="Calibri"/>
                        </a:rPr>
                        <a:t>事项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4F1EA"/>
                          </a:solidFill>
                          <a:latin typeface="Calibri"/>
                        </a:rPr>
                        <a:t>Kit 管理者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4F1EA"/>
                          </a:solidFill>
                          <a:latin typeface="Calibri"/>
                        </a:rPr>
                        <a:t>项目负责人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4F1EA"/>
                          </a:solidFill>
                          <a:latin typeface="Calibri"/>
                        </a:rPr>
                        <a:t>设计工程师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4F1EA"/>
                          </a:solidFill>
                          <a:latin typeface="Calibri"/>
                        </a:rPr>
                        <a:t>留下的工件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接收 / 归档 Foundry 交付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R·A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drop/ 只读盘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维护发布清单（11 列 CSV）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R·A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lists/*.csv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打包 + 登记 catalog（pack / import）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R·A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configs · packages · dataSheets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批准“本项目可用哪些包”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项目基线说明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安装 / 升级自己的工作库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R·A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个人 techLib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里程碑冻结（四件套 + 校验和 + 上锁）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archive/&lt;PROJ&gt;_&lt;MILESTONE&gt;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事后 ECO / 追加 hotfix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ECO 档案目录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退役旧包 / 年度盘点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R·A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审计表 + END 后注记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边界只有一句：设计工程师只写自己的 techLib；release 与 archive 两个目录对他永远只读。违反这条，复现与审计同时失效。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3" name="Picture 2" descr="p_d1.png"/>
          <p:cNvPicPr>
            <a:picLocks noChangeAspect="1"/>
          </p:cNvPicPr>
          <p:nvPr/>
        </p:nvPicPr>
        <p:blipFill>
          <a:blip r:embed="rId2"/>
          <a:srcRect l="23409" r="23409"/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46520" y="0"/>
            <a:ext cx="548640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842E"/>
                </a:solidFill>
                <a:latin typeface="Calibri"/>
              </a:rPr>
              <a:t>MODULE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47088"/>
            <a:ext cx="1371600" cy="17780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5760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4F1EA"/>
                </a:solidFill>
                <a:latin typeface="Georgia"/>
              </a:rPr>
              <a:t>资料模型：先把五个物件讲清楚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64992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3CE"/>
                </a:solidFill>
                <a:latin typeface="Calibri"/>
              </a:rPr>
              <a:t>TLM 的一切行为都由 .tlp 里的字段和 techLib 里的标记决定。看不懂这两样，就无法解释任何一次安装结果。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三层数据对象与各自的所有权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目录布局与四层分类字典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SKU / SDIR 命名硬规定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状态由标记文件决定（不是由数据库）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三条贯穿全课的心智模型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D8B9C"/>
                </a:solidFill>
                <a:latin typeface="Georgia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M1.1 · 数据对象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七种档案，只有四种是人写的；其余都是工具生成的可再生物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“能不能手改”这一列，就是团队协作里的红线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60727"/>
          <a:ext cx="11057837" cy="34939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4677"/>
                <a:gridCol w="1736354"/>
                <a:gridCol w="2101903"/>
                <a:gridCol w="1096645"/>
                <a:gridCol w="3838258"/>
              </a:tblGrid>
              <a:tr h="29352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4F1EA"/>
                          </a:solidFill>
                          <a:latin typeface="Calibri"/>
                        </a:rPr>
                        <a:t>物件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4F1EA"/>
                          </a:solidFill>
                          <a:latin typeface="Calibri"/>
                        </a:rPr>
                        <a:t>谁产生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4F1EA"/>
                          </a:solidFill>
                          <a:latin typeface="Calibri"/>
                        </a:rPr>
                        <a:t>谁消费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4F1EA"/>
                          </a:solidFill>
                          <a:latin typeface="Calibri"/>
                        </a:rPr>
                        <a:t>手改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4F1EA"/>
                          </a:solidFill>
                          <a:latin typeface="Calibri"/>
                        </a:rPr>
                        <a:t>要点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17253B"/>
                          </a:solidFill>
                          <a:latin typeface="Calibri"/>
                        </a:rPr>
                        <a:t>lists/*.csv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管理者手写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tlp_pack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可编辑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发布意图的唯一来源，11 列固定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17253B"/>
                          </a:solidFill>
                          <a:latin typeface="Calibri"/>
                        </a:rPr>
                        <a:t>configs/*.tlp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pack 生成 / 人写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import · install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可小改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改完必须重新 import，最好同时升 SKU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17253B"/>
                          </a:solidFill>
                          <a:latin typeface="Calibri"/>
                        </a:rPr>
                        <a:t>packages/*.tgz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pack 生成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install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禁止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内部顶层目录名必须等于 SDIR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17253B"/>
                          </a:solidFill>
                          <a:latin typeface="Calibri"/>
                        </a:rPr>
                        <a:t>dataSheets/*.dts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import 生成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交互安装·依赖检查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禁止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= .tlp 的原样拷贝，靠路径承载分类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17253B"/>
                          </a:solidFill>
                          <a:latin typeface="Calibri"/>
                        </a:rPr>
                        <a:t>techLib/&lt;…&gt;/&lt;SKU&gt;.dts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install 生成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“已装”判定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只能整体删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删了 → 重装同一 FULL 包立刻报 conflict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17253B"/>
                          </a:solidFill>
                          <a:latin typeface="Calibri"/>
                        </a:rPr>
                        <a:t>techLib/.tlp_install/*.tlp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install 生成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依赖判据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只能整体删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符号链接指向上一条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17253B"/>
                          </a:solidFill>
                          <a:latin typeface="Calibri"/>
                        </a:rPr>
                        <a:t>*.bundle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pack 生成 / 人抽取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install --bundleList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可追加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0" i="0">
                          <a:solidFill>
                            <a:srgbClr val="242B33"/>
                          </a:solidFill>
                          <a:latin typeface="Calibri"/>
                        </a:rPr>
                        <a:t>顺序 = 依赖顺序；排序会毁掉安装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17253B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把这三列当成权限矩阵落地：configs / packages / bundle 进 Git 与版本控制，dataSheets 与 techLib 永远由工具再生。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M1.2 · 目录与字典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安装布局不可配置：四层分类 + 一层 SDIR，缺一个字段就长出一个畸形目录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演示项目 T28HPC/0p5 的真实目录，可直接对照自己的 EDA 环境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6537960" cy="393192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88743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安装态与 CATALOG 态（实测目录）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17927"/>
            <a:ext cx="6153912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techLib/                                ← TECHLIB_ROOT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└── T28HPC                ← NODE   工艺平台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  └── 0p5                 ← MVER   模型版本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      ├── FDK             ← CATG   Foundry Design Kit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      │   ├── PDK/pdk28_r061/     ← TYPE / SDIR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      │   │   ├── …（库内容）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86B899"/>
                </a:solidFill>
                <a:latin typeface="Consolas"/>
              </a:rPr>
              <a:t>          │   │   └── PT28HPCKITPDK_r0.6.1.dts   ← 已装标记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      │   ├── CTK/ctk28_r061/  ADF/adf28_r061/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      ├── FIP/STDCELL/sc6t_e10/   FIP/MEMORY/mem2p_r06/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      └── HIP/GPIO/gpio_e06/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86B899"/>
                </a:solidFill>
                <a:latin typeface="Consolas"/>
              </a:rPr>
              <a:t>          └── .tlp_packages           ← 本节点已装清单（= bundle 来源）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33488" y="2160727"/>
          <a:ext cx="4291277" cy="3116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2079"/>
                <a:gridCol w="1681119"/>
                <a:gridCol w="1858079"/>
              </a:tblGrid>
              <a:tr h="2819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4F1EA"/>
                          </a:solidFill>
                          <a:latin typeface="Calibri"/>
                        </a:rPr>
                        <a:t>层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4F1EA"/>
                          </a:solidFill>
                          <a:latin typeface="Calibri"/>
                        </a:rPr>
                        <a:t>取值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4F1EA"/>
                          </a:solidFill>
                          <a:latin typeface="Calibri"/>
                        </a:rPr>
                        <a:t>规矩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NODE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T28HPC / T16FFC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平台名，勿混细节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MVER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0p5 / 0p9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版本号不写点，用 p 代替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CATG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FDK / FIP / HIP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★关键字是 CATG 不是 GROUP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PDK CTK ADF STDCELL MEMORY GPIO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锁死字表，禁止各自发明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SDIR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pdk28_r061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等于 tgz 顶层目录；一经发布不改名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33488" y="5405323"/>
            <a:ext cx="429127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E2F2A"/>
                </a:solidFill>
                <a:latin typeface="Calibri"/>
              </a:rPr>
              <a:t>写成 GROUP 而非 CATG（老 README/自带样例的写法）会被静默忽略，catalog 立刻长出 T28HPC/0p5//PDK/ 空层目录，按类别检索从此漏包。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8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8E2F2A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路径就是元数据：分类字段写错不会报错，只会在半年后以“某个包找不到”的形式出现。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M1.3 · 命名规范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SKU 名字是 TLM 唯一的版本语义载体，五条硬规定没有一条可以省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工具不携带版本列（CSV 的 VERSION 与 .tlp 的 ORIG 都不进安装逻辑），版本只能长在名字里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5391759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60727"/>
            <a:ext cx="45720" cy="2395728"/>
          </a:xfrm>
          <a:prstGeom prst="rect">
            <a:avLst/>
          </a:prstGeom>
          <a:solidFill>
            <a:srgbClr val="2E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43607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5D46"/>
                </a:solidFill>
                <a:latin typeface="Calibri"/>
              </a:rPr>
              <a:t>推荐写法（可排序、可判定新旧）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27655"/>
            <a:ext cx="4934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90" b="1">
                <a:solidFill>
                  <a:srgbClr val="4E6076"/>
                </a:solidFill>
                <a:latin typeface="Calibri"/>
              </a:rPr>
              <a:t>▪  </a:t>
            </a:r>
            <a:r>
              <a:rPr sz="1100" b="0">
                <a:solidFill>
                  <a:srgbClr val="242B33"/>
                </a:solidFill>
                <a:latin typeface="Calibri"/>
              </a:rPr>
              <a:t>PT28HPCPDK_r1.0 · _r1.0HF7　来源前缀 + 平台 + 类型 + 版本串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90" b="1">
                <a:solidFill>
                  <a:srgbClr val="4E6076"/>
                </a:solidFill>
                <a:latin typeface="Calibri"/>
              </a:rPr>
              <a:t>▪  </a:t>
            </a:r>
            <a:r>
              <a:rPr sz="1100" b="0">
                <a:solidFill>
                  <a:srgbClr val="242B33"/>
                </a:solidFill>
                <a:latin typeface="Calibri"/>
              </a:rPr>
              <a:t>SC6T_base_e.2.0 · MEM2PRF_r.0.6.1　类别 + 库体 + 版本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90" b="1">
                <a:solidFill>
                  <a:srgbClr val="4E6076"/>
                </a:solidFill>
                <a:latin typeface="Calibri"/>
              </a:rPr>
              <a:t>▪  </a:t>
            </a:r>
            <a:r>
              <a:rPr sz="1100" b="0">
                <a:solidFill>
                  <a:srgbClr val="242B33"/>
                </a:solidFill>
                <a:latin typeface="Calibri"/>
              </a:rPr>
              <a:t>SDIR 用去点短名：r1.0HF7 → pdk28_r10HF7；发布后永不改名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90" b="1">
                <a:solidFill>
                  <a:srgbClr val="4E6076"/>
                </a:solidFill>
                <a:latin typeface="Calibri"/>
              </a:rPr>
              <a:t>▪  </a:t>
            </a:r>
            <a:r>
              <a:rPr sz="1100" b="0">
                <a:solidFill>
                  <a:srgbClr val="242B33"/>
                </a:solidFill>
                <a:latin typeface="Calibri"/>
              </a:rPr>
              <a:t>hotfix 一律大写 HF，全库统一（HF7 与 hf7 在 TLM 里是两个包）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2160727"/>
            <a:ext cx="5391759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2160727"/>
            <a:ext cx="45720" cy="2395728"/>
          </a:xfrm>
          <a:prstGeom prst="rect">
            <a:avLst/>
          </a:prstGeom>
          <a:solidFill>
            <a:srgbClr val="8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0751" y="2343607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F2A"/>
                </a:solidFill>
                <a:latin typeface="Calibri"/>
              </a:rPr>
              <a:t>会咬人的写法（事故现场常见）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751" y="2727655"/>
            <a:ext cx="4934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90" b="1">
                <a:solidFill>
                  <a:srgbClr val="4E6076"/>
                </a:solidFill>
                <a:latin typeface="Calibri"/>
              </a:rPr>
              <a:t>▪  </a:t>
            </a:r>
            <a:r>
              <a:rPr sz="1100" b="0">
                <a:solidFill>
                  <a:srgbClr val="242B33"/>
                </a:solidFill>
                <a:latin typeface="Calibri"/>
              </a:rPr>
              <a:t>PDK_new / CTK_final / r1.0_2023-04　无法排序，也无法判定新旧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90" b="1">
                <a:solidFill>
                  <a:srgbClr val="4E6076"/>
                </a:solidFill>
                <a:latin typeface="Calibri"/>
              </a:rPr>
              <a:t>▪  </a:t>
            </a:r>
            <a:r>
              <a:rPr sz="1100" b="0">
                <a:solidFill>
                  <a:srgbClr val="242B33"/>
                </a:solidFill>
                <a:latin typeface="Calibri"/>
              </a:rPr>
              <a:t>同一 SDIR 被两条版本链抢占　第二个 FULL 包必报 conflict root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90" b="1">
                <a:solidFill>
                  <a:srgbClr val="4E6076"/>
                </a:solidFill>
                <a:latin typeface="Calibri"/>
              </a:rPr>
              <a:t>▪  </a:t>
            </a:r>
            <a:r>
              <a:rPr sz="1100" b="0">
                <a:solidFill>
                  <a:srgbClr val="242B33"/>
                </a:solidFill>
                <a:latin typeface="Calibri"/>
              </a:rPr>
              <a:t>把版本信息只写在 README 或目录备注里　工具看不见，bundle 也追不了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90" b="1">
                <a:solidFill>
                  <a:srgbClr val="4E6076"/>
                </a:solidFill>
                <a:latin typeface="Calibri"/>
              </a:rPr>
              <a:t>▪  </a:t>
            </a:r>
            <a:r>
              <a:rPr sz="1100" b="0">
                <a:solidFill>
                  <a:srgbClr val="242B33"/>
                </a:solidFill>
                <a:latin typeface="Calibri"/>
              </a:rPr>
              <a:t>随手加下划线/空格分隔　命令行与 csh 拆分都会出问题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66928" y="4775911"/>
          <a:ext cx="11057838" cy="16578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2948"/>
                <a:gridCol w="4221249"/>
                <a:gridCol w="6423641"/>
              </a:tblGrid>
              <a:tr h="28628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硬规定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违反后的真实后果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文件名 == NAME == bundle 行 == 主 FILE 去 .tgz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TLM 按文件名推 SKU；不一致会让标记、依赖链接、清单指向三个名字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SDIR == tgz 解压出的顶层目录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否则“标记在 A、内容在 B”，同族第二个包必冲突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一个 SDIR 只属于一条版本链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链首 FULL，其后全 PATCH，SDIR 保持一致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发布后 SKU 与内容都不可变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内容变了必须升名，否则 chmod 只读毫无意义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hotfix 链式互指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DEPN/REQU 写上一个 HF，而非永远写基线，跳装才会被拦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M1.4 · 状态从哪来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TLM 没有数据库：它只信两个文件位，其余“看起来像状态”的都是记录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理解了这一页，就能解释所有 conflict / skip / dependency 报错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3503066" cy="2231136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60727"/>
            <a:ext cx="3503066" cy="41148"/>
          </a:xfrm>
          <a:prstGeom prst="rect">
            <a:avLst/>
          </a:prstGeom>
          <a:solidFill>
            <a:srgbClr val="8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61895"/>
            <a:ext cx="310073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8A97A6"/>
                </a:solidFill>
                <a:latin typeface="Georgia"/>
              </a:rPr>
              <a:t>01　</a:t>
            </a:r>
            <a:r>
              <a:rPr sz="1250" b="1">
                <a:solidFill>
                  <a:srgbClr val="8E2F2A"/>
                </a:solidFill>
                <a:latin typeface="Calibri"/>
              </a:rPr>
              <a:t>已安装判定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45943"/>
            <a:ext cx="310073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2B33"/>
                </a:solidFill>
                <a:latin typeface="Calibri"/>
              </a:rPr>
              <a:t>techLib/…/&lt;SDIR&gt;/&lt;SKU&gt;.dts 存在 → Skip install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2B33"/>
                </a:solidFill>
                <a:latin typeface="Calibri"/>
              </a:rPr>
              <a:t>文件不在但目录在 → FULL 包报 conflict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4314" y="2160727"/>
            <a:ext cx="3503066" cy="2231136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4314" y="2160727"/>
            <a:ext cx="3503066" cy="41148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5482" y="2361895"/>
            <a:ext cx="310073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8A97A6"/>
                </a:solidFill>
                <a:latin typeface="Georgia"/>
              </a:rPr>
              <a:t>02　</a:t>
            </a:r>
            <a:r>
              <a:rPr sz="1250" b="1">
                <a:solidFill>
                  <a:srgbClr val="A8842E"/>
                </a:solidFill>
                <a:latin typeface="Calibri"/>
              </a:rPr>
              <a:t>依赖判定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5482" y="2745943"/>
            <a:ext cx="310073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2B33"/>
                </a:solidFill>
                <a:latin typeface="Calibri"/>
              </a:rPr>
              <a:t>techLib/.tlp_install/&lt;name&gt;.tlp 存在，或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2B33"/>
                </a:solidFill>
                <a:latin typeface="Calibri"/>
              </a:rPr>
              <a:t>&lt;类别路径&gt;/&lt;topdir&gt; 存在 → 放行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2B33"/>
                </a:solidFill>
                <a:latin typeface="Calibri"/>
              </a:rPr>
              <a:t>（仅特定 DEPN 写法才检查）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1700" y="2160727"/>
            <a:ext cx="3503066" cy="2231136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1700" y="2160727"/>
            <a:ext cx="3503066" cy="41148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2868" y="2361895"/>
            <a:ext cx="310073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8A97A6"/>
                </a:solidFill>
                <a:latin typeface="Georgia"/>
              </a:rPr>
              <a:t>03　</a:t>
            </a:r>
            <a:r>
              <a:rPr sz="1250" b="1">
                <a:solidFill>
                  <a:srgbClr val="4E6076"/>
                </a:solidFill>
                <a:latin typeface="Calibri"/>
              </a:rPr>
              <a:t>集合与审计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2868" y="2745943"/>
            <a:ext cx="310073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2B33"/>
                </a:solidFill>
                <a:latin typeface="Calibri"/>
              </a:rPr>
              <a:t>.tlp_packages＝可复现清单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2B33"/>
                </a:solidFill>
                <a:latin typeface="Calibri"/>
              </a:rPr>
              <a:t>.tlp_install.summary＝谁/何时/装的什么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578047"/>
            <a:ext cx="11057839" cy="1426464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706063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手工制造/清除状态（管理员急救，两种都实测过）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035247"/>
            <a:ext cx="10673791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90" b="1">
                <a:solidFill>
                  <a:srgbClr val="5F748C"/>
                </a:solidFill>
                <a:latin typeface="Consolas"/>
              </a:rPr>
              <a:t>$ </a:t>
            </a:r>
            <a:r>
              <a:rPr sz="990" b="0">
                <a:solidFill>
                  <a:srgbClr val="9CB4CE"/>
                </a:solidFill>
                <a:latin typeface="Consolas"/>
              </a:rPr>
              <a:t>cp configs/X.tlp techLib/&lt;类别&gt;/X.dts      # 补回丢失的标记 → 立刻变回 skip（幂等恢复）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90" b="1">
                <a:solidFill>
                  <a:srgbClr val="5F748C"/>
                </a:solidFill>
                <a:latin typeface="Consolas"/>
              </a:rPr>
              <a:t>$ </a:t>
            </a:r>
            <a:r>
              <a:rPr sz="990" b="0">
                <a:solidFill>
                  <a:srgbClr val="9CB4CE"/>
                </a:solidFill>
                <a:latin typeface="Consolas"/>
              </a:rPr>
              <a:t>rm -rf techLib/&lt;类别&gt;/&lt;SDIR&gt;; rm -f techLib/.tlp_install/X.tlp; \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90" b="1">
                <a:solidFill>
                  <a:srgbClr val="5F748C"/>
                </a:solidFill>
                <a:latin typeface="Consolas"/>
              </a:rPr>
              <a:t>  </a:t>
            </a:r>
            <a:r>
              <a:rPr sz="990" b="0">
                <a:solidFill>
                  <a:srgbClr val="D8DDE3"/>
                </a:solidFill>
                <a:latin typeface="Consolas"/>
              </a:rPr>
              <a:t>      grep -v '^X$' .tlp_packages &gt; t &amp;&amp; mv t .tlp_packages       # 事实上的 uninstall：三处一起删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手删库目录但留着标记 → 报“已安装”；留着目录但删了标记 → 报 conflict。两种不一致都无法自动修复，只能如上手工对齐。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　·　M1 资料模型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50292" cy="3566160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371600"/>
            <a:ext cx="10051999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7253B"/>
                </a:solidFill>
                <a:latin typeface="Georgia"/>
              </a:rPr>
              <a:t>顺序即依赖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7253B"/>
                </a:solidFill>
                <a:latin typeface="Georgia"/>
              </a:rPr>
              <a:t>标记即状态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7253B"/>
                </a:solidFill>
                <a:latin typeface="Georgia"/>
              </a:rPr>
              <a:t>冻结即真相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14800"/>
            <a:ext cx="8778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42B33"/>
                </a:solidFill>
                <a:latin typeface="Calibri"/>
              </a:rPr>
              <a:t>TLM 的依赖“求解”只有一个可读的写法（且默认不生效），真正决定成败的是 bundle 的书写顺序；techLib 里有没有装过，只看目录里的标记文件；一个项目能不能复现，只看它能不能从“清单 + 定义 + 包 + 校验和”四件套重装出来。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42B33"/>
                </a:solidFill>
                <a:latin typeface="Calibri"/>
              </a:rPr>
              <a:t>这三句话会在后面每一页反复被验证——包括用失败案例验证。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78638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E6076"/>
                </a:solidFill>
                <a:latin typeface="Calibri"/>
              </a:rPr>
              <a:t>THREE MENTAL MODELS · M1 收束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3" name="Picture 2" descr="p_d2.png"/>
          <p:cNvPicPr>
            <a:picLocks noChangeAspect="1"/>
          </p:cNvPicPr>
          <p:nvPr/>
        </p:nvPicPr>
        <p:blipFill>
          <a:blip r:embed="rId2"/>
          <a:srcRect l="23409" r="23409"/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46520" y="0"/>
            <a:ext cx="548640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842E"/>
                </a:solidFill>
                <a:latin typeface="Calibri"/>
              </a:rPr>
              <a:t>MODULE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47088"/>
            <a:ext cx="1371600" cy="17780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5760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4F1EA"/>
                </a:solidFill>
                <a:latin typeface="Georgia"/>
              </a:rPr>
              <a:t>整理与发布：把交付变成产品线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64992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3CE"/>
                </a:solidFill>
                <a:latin typeface="Calibri"/>
              </a:rPr>
              <a:t>这一模块是 Kit 管理者的主业：一次收货要产出可安装、可回滚、可冻结的一组工件，并且从此以后任何人重跑都得到同样的结果。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发布循环的 8 个动作与责任人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11 列发布清单与 .tlp 语法边界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DEPN / REQU 的唯一有效写法（实测矩阵）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hotfix 与分卷：PATCH 叠加语义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不可变发布：权限与 manifest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D8B9C"/>
                </a:solidFill>
                <a:latin typeface="Georgi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M2.1 · 发布流水线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一次常规发布只有 8 个动作，缺任何一步都会在半年后变成一次停摆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命令顺序即执行顺序；括号内为本课对应页码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1238211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60727"/>
            <a:ext cx="1238211" cy="3657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97887"/>
            <a:ext cx="9456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>
                <a:solidFill>
                  <a:srgbClr val="17253B"/>
                </a:solidFill>
                <a:latin typeface="Georgia"/>
              </a:rPr>
              <a:t>01 </a:t>
            </a:r>
            <a:r>
              <a:rPr sz="1150" b="1">
                <a:solidFill>
                  <a:srgbClr val="17253B"/>
                </a:solidFill>
                <a:latin typeface="Calibri"/>
              </a:rPr>
              <a:t>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81351"/>
            <a:ext cx="945603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2B33"/>
                </a:solidFill>
                <a:latin typeface="Calibri"/>
              </a:rPr>
              <a:t>Foundry 交付落 drop/，立即 chmod 只读
（M2.2）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855" y="2526487"/>
            <a:ext cx="137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6"/>
                </a:solidFill>
                <a:latin typeface="Calibri"/>
              </a:rPr>
              <a:t>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9731" y="2160727"/>
            <a:ext cx="1238211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69731" y="2160727"/>
            <a:ext cx="1238211" cy="3657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16035" y="2297887"/>
            <a:ext cx="9456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>
                <a:solidFill>
                  <a:srgbClr val="17253B"/>
                </a:solidFill>
                <a:latin typeface="Georgia"/>
              </a:rPr>
              <a:t>02 </a:t>
            </a:r>
            <a:r>
              <a:rPr sz="1150" b="1">
                <a:solidFill>
                  <a:srgbClr val="17253B"/>
                </a:solidFill>
                <a:latin typeface="Calibri"/>
              </a:rPr>
              <a:t>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6035" y="2581351"/>
            <a:ext cx="945603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2B33"/>
                </a:solidFill>
                <a:latin typeface="Calibri"/>
              </a:rPr>
              <a:t>写 11 列 lists/*.csv，跑列位自查
（M2.3–M2.4）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1659" y="2526487"/>
            <a:ext cx="137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6"/>
                </a:solidFill>
                <a:latin typeface="Calibri"/>
              </a:rPr>
              <a:t>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2535" y="2160727"/>
            <a:ext cx="1238211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72535" y="2160727"/>
            <a:ext cx="1238211" cy="3657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8839" y="2297887"/>
            <a:ext cx="9456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>
                <a:solidFill>
                  <a:srgbClr val="17253B"/>
                </a:solidFill>
                <a:latin typeface="Georgia"/>
              </a:rPr>
              <a:t>03 </a:t>
            </a:r>
            <a:r>
              <a:rPr sz="1150" b="1">
                <a:solidFill>
                  <a:srgbClr val="17253B"/>
                </a:solidFill>
                <a:latin typeface="Calibri"/>
              </a:rPr>
              <a:t>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8839" y="2581351"/>
            <a:ext cx="945603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2B33"/>
                </a:solidFill>
                <a:latin typeface="Calibri"/>
              </a:rPr>
              <a:t>tlp_pack 产出 .tlp + .tgz + .bundle
（M2.5）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4463" y="2526487"/>
            <a:ext cx="137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6"/>
                </a:solidFill>
                <a:latin typeface="Calibri"/>
              </a:rPr>
              <a:t>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5339" y="2160727"/>
            <a:ext cx="1238211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75339" y="2160727"/>
            <a:ext cx="1238211" cy="3657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21643" y="2297887"/>
            <a:ext cx="9456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>
                <a:solidFill>
                  <a:srgbClr val="17253B"/>
                </a:solidFill>
                <a:latin typeface="Georgia"/>
              </a:rPr>
              <a:t>04 </a:t>
            </a:r>
            <a:r>
              <a:rPr sz="1150" b="1">
                <a:solidFill>
                  <a:srgbClr val="17253B"/>
                </a:solidFill>
                <a:latin typeface="Calibri"/>
              </a:rPr>
              <a:t>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1643" y="2581351"/>
            <a:ext cx="945603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2B33"/>
                </a:solidFill>
                <a:latin typeface="Calibri"/>
              </a:rPr>
              <a:t>tlp_import 登记 catalog（缺载荷即拒）
（M2.7）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7267" y="2526487"/>
            <a:ext cx="137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6"/>
                </a:solidFill>
                <a:latin typeface="Calibri"/>
              </a:rPr>
              <a:t>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8143" y="2160727"/>
            <a:ext cx="1238211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8143" y="2160727"/>
            <a:ext cx="1238211" cy="3657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4447" y="2297887"/>
            <a:ext cx="9456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>
                <a:solidFill>
                  <a:srgbClr val="17253B"/>
                </a:solidFill>
                <a:latin typeface="Georgia"/>
              </a:rPr>
              <a:t>05 </a:t>
            </a:r>
            <a:r>
              <a:rPr sz="1150" b="1">
                <a:solidFill>
                  <a:srgbClr val="17253B"/>
                </a:solidFill>
                <a:latin typeface="Calibri"/>
              </a:rPr>
              <a:t>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447" y="2581351"/>
            <a:ext cx="945603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2B33"/>
                </a:solidFill>
                <a:latin typeface="Calibri"/>
              </a:rPr>
              <a:t>装临时参考库 + verify + 与上版 diff
（M5.5）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0071" y="2526487"/>
            <a:ext cx="137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6"/>
                </a:solidFill>
                <a:latin typeface="Calibri"/>
              </a:rPr>
              <a:t>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0947" y="2160727"/>
            <a:ext cx="1238211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0947" y="2160727"/>
            <a:ext cx="1238211" cy="3657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7251" y="2297887"/>
            <a:ext cx="9456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>
                <a:solidFill>
                  <a:srgbClr val="17253B"/>
                </a:solidFill>
                <a:latin typeface="Georgia"/>
              </a:rPr>
              <a:t>06 </a:t>
            </a:r>
            <a:r>
              <a:rPr sz="1150" b="1">
                <a:solidFill>
                  <a:srgbClr val="17253B"/>
                </a:solidFill>
                <a:latin typeface="Calibri"/>
              </a:rPr>
              <a:t>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7251" y="2581351"/>
            <a:ext cx="945603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2B33"/>
                </a:solidFill>
                <a:latin typeface="Calibri"/>
              </a:rPr>
              <a:t>变更通告 + 影响面清单发-design
（M3.5）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2875" y="2526487"/>
            <a:ext cx="137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6"/>
                </a:solidFill>
                <a:latin typeface="Calibri"/>
              </a:rPr>
              <a:t>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83751" y="2160727"/>
            <a:ext cx="1238211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83751" y="2160727"/>
            <a:ext cx="1238211" cy="3657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30055" y="2297887"/>
            <a:ext cx="9456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>
                <a:solidFill>
                  <a:srgbClr val="17253B"/>
                </a:solidFill>
                <a:latin typeface="Georgia"/>
              </a:rPr>
              <a:t>07 </a:t>
            </a:r>
            <a:r>
              <a:rPr sz="1150" b="1">
                <a:solidFill>
                  <a:srgbClr val="17253B"/>
                </a:solidFill>
                <a:latin typeface="Calibri"/>
              </a:rPr>
              <a:t>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0055" y="2581351"/>
            <a:ext cx="945603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2B33"/>
                </a:solidFill>
                <a:latin typeface="Calibri"/>
              </a:rPr>
              <a:t>里程碑时冻结四件套并上锁
（M4.2）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5679" y="2526487"/>
            <a:ext cx="137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6"/>
                </a:solidFill>
                <a:latin typeface="Calibri"/>
              </a:rPr>
              <a:t>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86555" y="2160727"/>
            <a:ext cx="1238211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386555" y="2160727"/>
            <a:ext cx="1238211" cy="3657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32859" y="2297887"/>
            <a:ext cx="94560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1">
                <a:solidFill>
                  <a:srgbClr val="17253B"/>
                </a:solidFill>
                <a:latin typeface="Georgia"/>
              </a:rPr>
              <a:t>08 </a:t>
            </a:r>
            <a:r>
              <a:rPr sz="1150" b="1">
                <a:solidFill>
                  <a:srgbClr val="17253B"/>
                </a:solidFill>
                <a:latin typeface="Calibri"/>
              </a:rPr>
              <a:t>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32859" y="2581351"/>
            <a:ext cx="945603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42B33"/>
                </a:solidFill>
                <a:latin typeface="Calibri"/>
              </a:rPr>
              <a:t>盘点目录、清日志、核校验和
（M4.6）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3367735"/>
            <a:ext cx="5391759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3367735"/>
            <a:ext cx="45720" cy="2487168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" y="3550615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53B"/>
                </a:solidFill>
                <a:latin typeface="Calibri"/>
              </a:rPr>
              <a:t>本模块要建立的三样东西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" y="3934663"/>
            <a:ext cx="4934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44" b="1">
                <a:solidFill>
                  <a:srgbClr val="4E6076"/>
                </a:solidFill>
                <a:latin typeface="Calibri"/>
              </a:rPr>
              <a:t>▪  </a:t>
            </a:r>
            <a:r>
              <a:rPr sz="1160" b="0">
                <a:solidFill>
                  <a:srgbClr val="242B33"/>
                </a:solidFill>
                <a:latin typeface="Calibri"/>
              </a:rPr>
              <a:t>发布清单库 lists/　进 Git，每次发布留档（含日期与责任人）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44" b="1">
                <a:solidFill>
                  <a:srgbClr val="4E6076"/>
                </a:solidFill>
                <a:latin typeface="Calibri"/>
              </a:rPr>
              <a:t>▪  </a:t>
            </a:r>
            <a:r>
              <a:rPr sz="1160" b="0">
                <a:solidFill>
                  <a:srgbClr val="242B33"/>
                </a:solidFill>
                <a:latin typeface="Calibri"/>
              </a:rPr>
              <a:t>不可变发布盘 release/　只增不改；SKU 一旦发布即冻结内容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44" b="1">
                <a:solidFill>
                  <a:srgbClr val="4E6076"/>
                </a:solidFill>
                <a:latin typeface="Calibri"/>
              </a:rPr>
              <a:t>▪  </a:t>
            </a:r>
            <a:r>
              <a:rPr sz="1160" b="0">
                <a:solidFill>
                  <a:srgbClr val="242B33"/>
                </a:solidFill>
                <a:latin typeface="Calibri"/>
              </a:rPr>
              <a:t>证据链　bundle + configs + packages + md5，缺一项就不算可复现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3007" y="3367735"/>
            <a:ext cx="5391759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3007" y="3367735"/>
            <a:ext cx="45720" cy="2487168"/>
          </a:xfrm>
          <a:prstGeom prst="rect">
            <a:avLst/>
          </a:prstGeom>
          <a:solidFill>
            <a:srgbClr val="8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70751" y="3550615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F2A"/>
                </a:solidFill>
                <a:latin typeface="Calibri"/>
              </a:rPr>
              <a:t>常见走捷径的代价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0751" y="3934663"/>
            <a:ext cx="4934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44" b="1">
                <a:solidFill>
                  <a:srgbClr val="4E6076"/>
                </a:solidFill>
                <a:latin typeface="Calibri"/>
              </a:rPr>
              <a:t>▪  </a:t>
            </a:r>
            <a:r>
              <a:rPr sz="1160" b="0">
                <a:solidFill>
                  <a:srgbClr val="242B33"/>
                </a:solidFill>
                <a:latin typeface="Calibri"/>
              </a:rPr>
              <a:t>跳过“审”：CSV 列位串了，pack 会把 VERSION 当 CATG 用，产出一堆畸形包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44" b="1">
                <a:solidFill>
                  <a:srgbClr val="4E6076"/>
                </a:solidFill>
                <a:latin typeface="Calibri"/>
              </a:rPr>
              <a:t>▪  </a:t>
            </a:r>
            <a:r>
              <a:rPr sz="1160" b="0">
                <a:solidFill>
                  <a:srgbClr val="242B33"/>
                </a:solidFill>
                <a:latin typeface="Calibri"/>
              </a:rPr>
              <a:t>跳过“验”：包能装但 tgz 顶层目录 ≠ SDIR，第二个包的安装会直接 conflict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44" b="1">
                <a:solidFill>
                  <a:srgbClr val="4E6076"/>
                </a:solidFill>
                <a:latin typeface="Calibri"/>
              </a:rPr>
              <a:t>▪  </a:t>
            </a:r>
            <a:r>
              <a:rPr sz="1160" b="0">
                <a:solidFill>
                  <a:srgbClr val="242B33"/>
                </a:solidFill>
                <a:latin typeface="Calibri"/>
              </a:rPr>
              <a:t>跳过“登”：catalog 与 configs 分家，设计师在交互菜单里看不到新包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44" b="1">
                <a:solidFill>
                  <a:srgbClr val="4E6076"/>
                </a:solidFill>
                <a:latin typeface="Calibri"/>
              </a:rPr>
              <a:t>▪  </a:t>
            </a:r>
            <a:r>
              <a:rPr sz="1160" b="0">
                <a:solidFill>
                  <a:srgbClr val="242B33"/>
                </a:solidFill>
                <a:latin typeface="Calibri"/>
              </a:rPr>
              <a:t>跳过“冻”：回片要用档案重装时，发现某个 .tgz 早被覆盖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M2.2 · 收货与归档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交付物落地第一件事不是打包，是把它变成不可变的只读对象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drop/ 是所有可复现性的源头；它一旦被改写，后面的证据链全部作废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6675120" cy="3913632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88743"/>
            <a:ext cx="63093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标准收货动作（CSH）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17927"/>
            <a:ext cx="6291072" cy="3346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  </a:t>
            </a:r>
            <a:r>
              <a:rPr sz="969" b="0">
                <a:solidFill>
                  <a:srgbClr val="7C8B9E"/>
                </a:solidFill>
                <a:latin typeface="Consolas"/>
              </a:rPr>
              <a:t># ① 落地即固定命名与权限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$ </a:t>
            </a:r>
            <a:r>
              <a:rPr sz="969" b="0">
                <a:solidFill>
                  <a:srgbClr val="9CB4CE"/>
                </a:solidFill>
                <a:latin typeface="Consolas"/>
              </a:rPr>
              <a:t>set D = /tlppkg/drop/T28HPC/0p5/FDK/ctk28_r071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$ </a:t>
            </a:r>
            <a:r>
              <a:rPr sz="969" b="0">
                <a:solidFill>
                  <a:srgbClr val="9CB4CE"/>
                </a:solidFill>
                <a:latin typeface="Consolas"/>
              </a:rPr>
              <a:t>cp -r /incoming/TSMC_HSPICE_r1p07 $D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$ </a:t>
            </a:r>
            <a:r>
              <a:rPr sz="969" b="0">
                <a:solidFill>
                  <a:srgbClr val="9CB4CE"/>
                </a:solidFill>
                <a:latin typeface="Consolas"/>
              </a:rPr>
              <a:t>chmod -R a-w $D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$ </a:t>
            </a:r>
            <a:r>
              <a:rPr sz="969" b="0">
                <a:solidFill>
                  <a:srgbClr val="9CB4CE"/>
                </a:solidFill>
                <a:latin typeface="Consolas"/>
              </a:rPr>
              <a:t>(cd /tlppkg/drop &amp;&amp; md5sum $(find T28HPC/0p5/FDK/ctk28_r071 -type f) &gt; ctk28_r071.md5)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  </a:t>
            </a:r>
            <a:r>
              <a:rPr sz="969" b="0">
                <a:solidFill>
                  <a:srgbClr val="D8DDE3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  </a:t>
            </a:r>
            <a:r>
              <a:rPr sz="969" b="0">
                <a:solidFill>
                  <a:srgbClr val="7C8B9E"/>
                </a:solidFill>
                <a:latin typeface="Consolas"/>
              </a:rPr>
              <a:t># ② 大交付：分盘 + 符号链接，不改目录结构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$ </a:t>
            </a:r>
            <a:r>
              <a:rPr sz="969" b="0">
                <a:solidFill>
                  <a:srgbClr val="9CB4CE"/>
                </a:solidFill>
                <a:latin typeface="Consolas"/>
              </a:rPr>
              <a:t>ln -s /nfscold/TSMC/r1p07 $D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  </a:t>
            </a:r>
            <a:r>
              <a:rPr sz="969" b="0">
                <a:solidFill>
                  <a:srgbClr val="D8DDE3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  </a:t>
            </a:r>
            <a:r>
              <a:rPr sz="969" b="0">
                <a:solidFill>
                  <a:srgbClr val="7C8B9E"/>
                </a:solidFill>
                <a:latin typeface="Consolas"/>
              </a:rPr>
              <a:t># ③ 发布前门禁：清单列位与载荷存在性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$ </a:t>
            </a:r>
            <a:r>
              <a:rPr sz="969" b="0">
                <a:solidFill>
                  <a:srgbClr val="9CB4CE"/>
                </a:solidFill>
                <a:latin typeface="Consolas"/>
              </a:rPr>
              <a:t>bash /tools/tlm/contrib/chk.sh lists/r071.csv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  </a:t>
            </a:r>
            <a:r>
              <a:rPr sz="969" b="1">
                <a:solidFill>
                  <a:srgbClr val="E3C07A"/>
                </a:solidFill>
                <a:latin typeface="Consolas"/>
              </a:rPr>
              <a:t>⚠ 第7行 LOCATION 为空（只出 .tlp 不出包）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  ! </a:t>
            </a:r>
            <a:r>
              <a:rPr sz="969" b="0">
                <a:solidFill>
                  <a:srgbClr val="E08A84"/>
                </a:solidFill>
                <a:latin typeface="Consolas"/>
              </a:rPr>
              <a:t>✗ 第8行 列数=10（应 11）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70648" y="2160727"/>
          <a:ext cx="4154118" cy="2657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2714"/>
                <a:gridCol w="1742049"/>
                <a:gridCol w="759355"/>
              </a:tblGrid>
              <a:tr h="2804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F4F1EA"/>
                          </a:solidFill>
                          <a:latin typeface="Calibri"/>
                        </a:rPr>
                        <a:t>收货纪律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F4F1EA"/>
                          </a:solidFill>
                          <a:latin typeface="Calibri"/>
                        </a:rPr>
                        <a:t>为什么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F4F1EA"/>
                          </a:solidFill>
                          <a:latin typeface="Calibri"/>
                        </a:rPr>
                        <a:t>级别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交付只读（chmod -R a-w）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防止被顺手改名/补文件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保留原始文件名与目录层级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事后能对上 Foundry 的 release note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md5 清单与交付同目录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怀疑被改时一条命令验证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把 Foundry 的 tar 解到工作区再改内容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从此无法证明“我们发的是原厂那份”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8E2F2A"/>
                          </a:solidFill>
                          <a:latin typeface="Calibri"/>
                        </a:rPr>
                        <a:t>✘ 无效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用 /tmp 或家目录暂存交付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清理策略会把它带走，发布档案断链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A8842E"/>
                          </a:solidFill>
                          <a:latin typeface="Calibri"/>
                        </a:rPr>
                        <a:t>△ 有条件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“先冻结、后加工”是收货唯一顺序。加工环节的灵活性应体现在 .tlp 与清单上，不是交付内容上。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M2.3 · 发布清单（PACKAGE 1.0）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11 列固定列位：串一列不会报错，只会静默产出错误的包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awk 严格按 $1…$11 取值；# 开头行与 ; 行都靠“恰好不匹配关键字”被跳过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60727"/>
          <a:ext cx="11057837" cy="34561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241"/>
                <a:gridCol w="1233725"/>
                <a:gridCol w="2741613"/>
                <a:gridCol w="6671258"/>
              </a:tblGrid>
              <a:tr h="28773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列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字段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示例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作用与陷阱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PACK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FULL / PATCH / MULTI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决定安装的目录冲突策略；MULTI 是死代码（勿用）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NODE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T28HPC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安装路径第 1 层，进 .tlp 的 NODE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MVER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0p5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第 2 层；版本号不要写点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CATG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FDK / FIP / HIP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第 3 层；⚠ 只能是 CATG，写 GROUP 会被忽略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PDK / CTK / ADF / STDCELL …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第 4 层；项目内锁死字表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PT28HPCKITCTK_r0.7.1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SKU = .tlp/.tgz/文件名 = bundle 行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SDIR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ctk28_r061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必须等于 tgz 解压顶层目录；hotfix 沿用基线值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r0.7.1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⚠ 不写进 .tlp：版本信息只能长在 SKU 名字里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REQU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基线 SKU 或 -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生成 DEPN（需 M5.2 的补丁才生效）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目录 / .tgz / 空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决定打包动作，共 5 种语义（见下表）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. 或子路径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仅当 LOCATION 是目录且名 ≠ SDIR 时使用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17253B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清单进 Git 并在评审中逐列核对——它是这套资料里唯一“表达人的意图”的文件。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M2.4 · LOCATION 的五种语义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同一个字段的写法，决定 tlp_pack 是打包、引用、还是只建档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第 10 列。理解这张表，hotfix、外部已有分卷、先建档后补货都不用改流程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60727"/>
          <a:ext cx="11057837" cy="28052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3000"/>
                <a:gridCol w="4112419"/>
                <a:gridCol w="3289935"/>
                <a:gridCol w="822483"/>
              </a:tblGrid>
              <a:tr h="29062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LOCATION 写法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pack 行为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典型场景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状态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空 / - / _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只生成 .tlp，FILE 指向尚不存在的包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先登记版本、内容下周才到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A8842E"/>
                          </a:solidFill>
                          <a:latin typeface="Calibri"/>
                        </a:rPr>
                        <a:t>△ 有条件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目录，basename == SDIR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就地 (cd 父; tar) &gt; SKU.tgz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交付目录名已规范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目录，basename ≠ SDIR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先拷进 tempLib/&lt;SDIR&gt;/ 归一化，再打包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hotfix 碎片目录、vendor 改名交付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现成 .tgz 路径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直接引用，不重新压缩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Foundry 给的是分卷大文件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不存在的路径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报 ERROR 并清理暂存目录，计入 error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拼错 / 网络盘没挂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8E2F2A"/>
                          </a:solidFill>
                          <a:latin typeface="Calibri"/>
                        </a:rPr>
                        <a:t>✘ 无效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2983687"/>
            <a:ext cx="539175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983687"/>
            <a:ext cx="45720" cy="1481328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166567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53B"/>
                </a:solidFill>
                <a:latin typeface="Calibri"/>
              </a:rPr>
              <a:t>两个运维注意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50615"/>
            <a:ext cx="4934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90" b="1">
                <a:solidFill>
                  <a:srgbClr val="4E6076"/>
                </a:solidFill>
                <a:latin typeface="Calibri"/>
              </a:rPr>
              <a:t>▪  </a:t>
            </a:r>
            <a:r>
              <a:rPr sz="1100" b="0">
                <a:solidFill>
                  <a:srgbClr val="242B33"/>
                </a:solidFill>
                <a:latin typeface="Calibri"/>
              </a:rPr>
              <a:t>第 3 种会在 tempDir 复制整份 design kit → 把 --tempDir 指到大盘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90" b="1">
                <a:solidFill>
                  <a:srgbClr val="4E6076"/>
                </a:solidFill>
                <a:latin typeface="Calibri"/>
              </a:rPr>
              <a:t>▪  </a:t>
            </a:r>
            <a:r>
              <a:rPr sz="1100" b="0">
                <a:solidFill>
                  <a:srgbClr val="242B33"/>
                </a:solidFill>
                <a:latin typeface="Calibri"/>
              </a:rPr>
              <a:t>第 2 种用 LOCATION/.. 作为 tar 父目录 → LOCATION 必须是真实路径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2983687"/>
            <a:ext cx="539175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2983687"/>
            <a:ext cx="45720" cy="1481328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0751" y="3166567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E6076"/>
                </a:solidFill>
                <a:latin typeface="Calibri"/>
              </a:rPr>
              <a:t>分卷怎么办（MULTI 是死代码）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751" y="3550615"/>
            <a:ext cx="4934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90" b="1">
                <a:solidFill>
                  <a:srgbClr val="4E6076"/>
                </a:solidFill>
                <a:latin typeface="Calibri"/>
              </a:rPr>
              <a:t>▪  </a:t>
            </a:r>
            <a:r>
              <a:rPr sz="1100" b="0">
                <a:solidFill>
                  <a:srgbClr val="242B33"/>
                </a:solidFill>
                <a:latin typeface="Calibri"/>
              </a:rPr>
              <a:t>手工在 .tlp 里写多行 FILE（-1.tgz / -2.tgz / -3.tgz）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90" b="1">
                <a:solidFill>
                  <a:srgbClr val="4E6076"/>
                </a:solidFill>
                <a:latin typeface="Calibri"/>
              </a:rPr>
              <a:t>▪  </a:t>
            </a:r>
            <a:r>
              <a:rPr sz="1100" b="0">
                <a:solidFill>
                  <a:srgbClr val="242B33"/>
                </a:solidFill>
                <a:latin typeface="Calibri"/>
              </a:rPr>
              <a:t>每卷只含 SDIR 的一部分文件，解到同一父目录后 tar 自然合并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M2.5 · TLP_PACK 实操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465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一条命令出三样工件：定义、包、集合清单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0170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真实输出（演示产品线 r0.6.1 首次发布，6 个包）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42846"/>
            <a:ext cx="6858000" cy="393192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70862"/>
            <a:ext cx="6492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执行与产物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00046"/>
            <a:ext cx="6473952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tlp_pack --packCfgsDir release/configs --packDestDir release/packages \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--tempDir release/tempLib release/lists/T28HPC_r061.csv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INFO: --packCfgDir release/configs / --packDestDir packages / --tempDir tempLib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[1]: Packing Kit 'PT28HPCKITPDK_r0.6.1' ...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   Create package file 'PT28HPCKITPDK_r0.6.1.tgz' ..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[4]: Packing Kit 'SC6T_base_e.1.0' ...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   Create package file 'SC6T_base_e.1.0.tgz' ..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86B899"/>
                </a:solidFill>
                <a:latin typeface="Consolas"/>
              </a:rPr>
              <a:t>[tlp_pack]: Total 6/6 tlp packages are created.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7C8B9E"/>
                </a:solidFill>
                <a:latin typeface="Consolas"/>
              </a:rPr>
              <a:t># 若交付目录名 ≠ SDIR，会先打这一行（仓库自带用例里可见）：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Copy designkit to kit directory 'lib222_6t_base_e100' ...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7C8B9E"/>
                </a:solidFill>
                <a:latin typeface="Consolas"/>
              </a:rPr>
              <a:t># ★ bundle 落在当前工作目录，不在 lists/ 旁边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PT28HPCKITPDK_r0.6.1 / PT28HPCKITCTK_r0.6.1 / PT28HPCKITADF_r0.6.1 /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SC6T_base_e.1.0 / MEM2PRF_r.0.6.1 / GPIO_e.0.6.1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53527" y="1742846"/>
          <a:ext cx="3971238" cy="24736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210"/>
                <a:gridCol w="1323746"/>
                <a:gridCol w="1596282"/>
              </a:tblGrid>
              <a:tr h="27904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F4F1EA"/>
                          </a:solidFill>
                          <a:latin typeface="Calibri"/>
                        </a:rPr>
                        <a:t>参数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F4F1EA"/>
                          </a:solidFill>
                          <a:latin typeface="Calibri"/>
                        </a:rPr>
                        <a:t>作用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F4F1EA"/>
                          </a:solidFill>
                          <a:latin typeface="Calibri"/>
                        </a:rPr>
                        <a:t>不给的后果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7253B"/>
                          </a:solidFill>
                          <a:latin typeface="Calibri"/>
                        </a:rPr>
                        <a:t>--packCfgsDir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输出 .tlp 的目录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不给则落在 packages/，定义与包混在一起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7253B"/>
                          </a:solidFill>
                          <a:latin typeface="Calibri"/>
                        </a:rPr>
                        <a:t>--packDestDir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输出 .tgz 的目录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同上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7253B"/>
                          </a:solidFill>
                          <a:latin typeface="Calibri"/>
                        </a:rPr>
                        <a:t>--tempDir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目录名归一化用的暂存区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大库必须指到大盘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7253B"/>
                          </a:solidFill>
                          <a:latin typeface="Calibri"/>
                        </a:rPr>
                        <a:t>清单参数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一个或多个 CSV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每个 CSV 生成同名 .bundle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53527" y="4526280"/>
            <a:ext cx="397123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17253B"/>
                </a:solidFill>
                <a:latin typeface="Calibri"/>
              </a:rPr>
              <a:t>必做的两条纪律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40" b="0" i="0">
                <a:solidFill>
                  <a:srgbClr val="242B33"/>
                </a:solidFill>
                <a:latin typeface="Calibri"/>
              </a:rPr>
              <a:t>① 打完包立刻 mv/归档 bundle——它在 CWD，不在 CSV 旁边，换个目录再跑就找不到上次的清单了。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42B33"/>
                </a:solidFill>
                <a:latin typeface="Calibri"/>
              </a:rPr>
              <a:t>② 每份清单一个 CSV。MODE TEST 等演练开关是文件级的，会把后续所有行都变成演练包。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pack 的输出目录、bundle 位置、tempLib 三项全部要显式出现在脚本里；默认值是给“试一下”用的，不是给发布用的。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M2.6 · 依赖语义（本课最重要的一页）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TLM 的依赖检查只在特定写法下生效，两种“看起来最自然”的写法都是错的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同一场景（派生包依赖基线）逐一实测的安装结果；未装/已装两态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60727"/>
          <a:ext cx="11057836" cy="22994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75742"/>
                <a:gridCol w="748137"/>
                <a:gridCol w="3056415"/>
                <a:gridCol w="3877542"/>
              </a:tblGrid>
              <a:tr h="28773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写法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状态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安装期实际行为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结论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onsolas"/>
                        </a:rPr>
                        <a:t>DEPN	KIT	&lt;类别路径&gt;	TOPDIR	&lt;topdir&gt;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8E2F2A"/>
                          </a:solidFill>
                          <a:latin typeface="Calibri"/>
                        </a:rPr>
                        <a:t>✘ 无效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检查 techLib/&lt;类别路径&gt;/&lt;topdir&gt;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★推荐：照字面写就对，唯一“肉眼可读且生效”的形式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onsolas"/>
                        </a:rPr>
                        <a:t>DEPN	KIT=	&lt;基线SKU&gt;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A8842E"/>
                          </a:solidFill>
                          <a:latin typeface="Calibri"/>
                        </a:rPr>
                        <a:t>△ 有条件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检查 .tlp_install/&lt;基线&gt;.tlp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有效但反直觉：KIT= 之后必须有空白/Tab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onsolas"/>
                        </a:rPr>
                        <a:t>DEPN	DIR=	&lt;类别路径&gt;/&lt;topdir&gt;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A8842E"/>
                          </a:solidFill>
                          <a:latin typeface="Calibri"/>
                        </a:rPr>
                        <a:t>△ 有条件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检查 techLib/&lt;路径&gt;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同上，务必留空白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onsolas"/>
                        </a:rPr>
                        <a:t>DEPN	KIT=&lt;基线SKU&gt;（无空白）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8E2F2A"/>
                          </a:solidFill>
                          <a:latin typeface="Calibri"/>
                        </a:rPr>
                        <a:t>✘ 无效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读到空字段 → 恒判失败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死路：该包永远装不上，报 Required kit ”…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onsolas"/>
                        </a:rPr>
                        <a:t>DEPN	&lt;基线SKU&gt;（只有两列）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8E2F2A"/>
                          </a:solidFill>
                          <a:latin typeface="Calibri"/>
                        </a:rPr>
                        <a:t>✘ 无效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不匹配任何规则 → 完全不检查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静默失效：仓库自带样例与 tlp_pack 默认产出全是这种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4617720"/>
            <a:ext cx="11057839" cy="1078992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745736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一次性修补：让 TLP_PACK 产出可生效的依赖（实测有效）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074920"/>
            <a:ext cx="10673791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cd $TLP_HOME &amp;&amp; sed -i 's|"DEPN\\t"kit_depend|"DEPN\\tKIT=\\t"kit_depend|' csh/tlp_pack.awk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grep -c 'DEPN→KIT=→' release/configs/*.tlp   # 每个派生包都变成 1 → 依赖从此真正被检查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M2.7 · TLP_IMPORT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import 的真正价值不是拷贝文件，而是一道“发不出去就进不了目录”的门禁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缺任何一个 FILE 载荷、缺 REQU 基线定义 → 整包不产 .dts，设计师选不到它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6217920" cy="393192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88743"/>
            <a:ext cx="58521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全量导入 + 幂等 + 拒收（三段真实输出）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17927"/>
            <a:ext cx="5833872" cy="33649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tlp_import --packageCfgDir configs --packageSrcDir packages --dataSheetDir dataSheets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D8DDE3"/>
                </a:solidFill>
                <a:latin typeface="Consolas"/>
              </a:rPr>
              <a:t>[1]: Reading 'configs/GPIO_e.0.6.1.tlp' ...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D8DDE3"/>
                </a:solidFill>
                <a:latin typeface="Consolas"/>
              </a:rPr>
              <a:t>    : Package file - packages/GPIO_e.0.6.1.tgz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86B899"/>
                </a:solidFill>
                <a:latin typeface="Consolas"/>
              </a:rPr>
              <a:t>    : Creating 'T28HPC/0p5/HIP/GPIO/gpio_e06/GPIO_e.0.6.1.dts'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86B899"/>
                </a:solidFill>
                <a:latin typeface="Consolas"/>
              </a:rPr>
              <a:t>[tlp_import]: Total 6/6 tlp data sheets are created.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D8DDE3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7C8B9E"/>
                </a:solidFill>
                <a:latin typeface="Consolas"/>
              </a:rPr>
              <a:t># 再跑一遍：不覆盖、不重复登记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1">
                <a:solidFill>
                  <a:srgbClr val="E3C07A"/>
                </a:solidFill>
                <a:latin typeface="Consolas"/>
              </a:rPr>
              <a:t>WARNING: Skip import …GPIO_e.0.6.1.dts (already exist)   ×6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D8DDE3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7C8B9E"/>
                </a:solidFill>
                <a:latin typeface="Consolas"/>
              </a:rPr>
              <a:t># 引用了不存在的基线与 tgz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! </a:t>
            </a:r>
            <a:r>
              <a:rPr sz="940" b="0">
                <a:solidFill>
                  <a:srgbClr val="E08A84"/>
                </a:solidFill>
                <a:latin typeface="Consolas"/>
              </a:rPr>
              <a:t>    : Install base - NO_SUCH_BASE can not be found in package source.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! </a:t>
            </a:r>
            <a:r>
              <a:rPr sz="940" b="0">
                <a:solidFill>
                  <a:srgbClr val="E08A84"/>
                </a:solidFill>
                <a:latin typeface="Consolas"/>
              </a:rPr>
              <a:t>ERROR: Kit 'BADKIT' has 2 missing pacakge files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! </a:t>
            </a:r>
            <a:r>
              <a:rPr sz="940" b="0">
                <a:solidFill>
                  <a:srgbClr val="E08A84"/>
                </a:solidFill>
                <a:latin typeface="Consolas"/>
              </a:rPr>
              <a:t>[tlp_import]: Total 0/1 created · 1/1 have missing package files. (error)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013448" y="2160727"/>
          <a:ext cx="4611318" cy="21092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5090"/>
                <a:gridCol w="1870629"/>
                <a:gridCol w="1435599"/>
              </a:tblGrid>
              <a:tr h="2804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F4F1EA"/>
                          </a:solidFill>
                          <a:latin typeface="Calibri"/>
                        </a:rPr>
                        <a:t>输入形态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F4F1EA"/>
                          </a:solidFill>
                          <a:latin typeface="Calibri"/>
                        </a:rPr>
                        <a:t>行为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F4F1EA"/>
                          </a:solidFill>
                          <a:latin typeface="Calibri"/>
                        </a:rPr>
                        <a:t>什么时候用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17253B"/>
                          </a:solidFill>
                          <a:latin typeface="Calibri"/>
                        </a:rPr>
                        <a:t>什么都不传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全量导入 $TECHLIB_CFGS/*.tlp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例行发布/CI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17253B"/>
                          </a:solidFill>
                          <a:latin typeface="Calibri"/>
                        </a:rPr>
                        <a:t>一个目录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展开为该目录下全部 .tlp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整批新交付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17253B"/>
                          </a:solidFill>
                          <a:latin typeface="Calibri"/>
                        </a:rPr>
                        <a:t>一个 .tlp 路径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只登记它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单个 hotfix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17253B"/>
                          </a:solidFill>
                          <a:latin typeface="Calibri"/>
                        </a:rPr>
                        <a:t>一个裸 SKU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到 CFGS 通配 &lt;SKU&gt;.tlp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补登漏掉的包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013448" y="2709367"/>
            <a:ext cx="4611319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13448" y="2709367"/>
            <a:ext cx="45720" cy="1920240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2892247"/>
            <a:ext cx="41541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E6076"/>
                </a:solidFill>
                <a:latin typeface="Calibri"/>
              </a:rPr>
              <a:t>四条使用纪律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3276295"/>
            <a:ext cx="4154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18" b="1">
                <a:solidFill>
                  <a:srgbClr val="4E6076"/>
                </a:solidFill>
                <a:latin typeface="Calibri"/>
              </a:rPr>
              <a:t>▪  </a:t>
            </a:r>
            <a:r>
              <a:rPr sz="1019" b="0">
                <a:solidFill>
                  <a:srgbClr val="242B33"/>
                </a:solidFill>
                <a:latin typeface="Calibri"/>
              </a:rPr>
              <a:t>已存在的 .dts 只告警不更新 → 同 SKU 修错先删后导，并通知已装的人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18" b="1">
                <a:solidFill>
                  <a:srgbClr val="4E6076"/>
                </a:solidFill>
                <a:latin typeface="Calibri"/>
              </a:rPr>
              <a:t>▪  </a:t>
            </a:r>
            <a:r>
              <a:rPr sz="1019" b="0">
                <a:solidFill>
                  <a:srgbClr val="242B33"/>
                </a:solidFill>
                <a:latin typeface="Calibri"/>
              </a:rPr>
              <a:t>目录为空时只报 csh 的 ls: No match.（退出码仍 0）→ 判定要 grep 日志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18" b="1">
                <a:solidFill>
                  <a:srgbClr val="4E6076"/>
                </a:solidFill>
                <a:latin typeface="Calibri"/>
              </a:rPr>
              <a:t>▪  </a:t>
            </a:r>
            <a:r>
              <a:rPr sz="1019" b="0">
                <a:solidFill>
                  <a:srgbClr val="242B33"/>
                </a:solidFill>
                <a:latin typeface="Calibri"/>
              </a:rPr>
              <a:t>import 不解析 DEPN：依赖校验发生在 install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18" b="1">
                <a:solidFill>
                  <a:srgbClr val="4E6076"/>
                </a:solidFill>
                <a:latin typeface="Calibri"/>
              </a:rPr>
              <a:t>▪  </a:t>
            </a:r>
            <a:r>
              <a:rPr sz="1019" b="0">
                <a:solidFill>
                  <a:srgbClr val="242B33"/>
                </a:solidFill>
                <a:latin typeface="Calibri"/>
              </a:rPr>
              <a:t>catalog 只增不删：老包永远保留，历史项目仍要引用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8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8E2F2A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把 import 的 “(error)” 当成发布的红线条：只要有 1 个 missing package，这次发布就不该流出。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M2.8 · 不可变发布与登记簿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发布不是“拷到盘上”，而是“写下一个别人无法改动的目录 + 一份登记簿”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这一步同时解决了误覆盖、事后审计、以及“盘上到底有什么”的三类问题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6903720" cy="1755648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88743"/>
            <a:ext cx="6537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发布收尾（管理者专用，之后所有人只读）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17927"/>
            <a:ext cx="6519672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$ </a:t>
            </a:r>
            <a:r>
              <a:rPr sz="969" b="0">
                <a:solidFill>
                  <a:srgbClr val="9CB4CE"/>
                </a:solidFill>
                <a:latin typeface="Consolas"/>
              </a:rPr>
              <a:t>chmod -R a-w release/packages release/configs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$ </a:t>
            </a:r>
            <a:r>
              <a:rPr sz="969" b="0">
                <a:solidFill>
                  <a:srgbClr val="9CB4CE"/>
                </a:solidFill>
                <a:latin typeface="Consolas"/>
              </a:rPr>
              <a:t>awk '!seen[$0]++' release/T28HPC_r061.bundle &gt; release/bundles/T28HPC_r061.bundle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$ </a:t>
            </a:r>
            <a:r>
              <a:rPr sz="969" b="0">
                <a:solidFill>
                  <a:srgbClr val="9CB4CE"/>
                </a:solidFill>
                <a:latin typeface="Consolas"/>
              </a:rPr>
              <a:t>(cd release/packages &amp;&amp; md5sum *.tgz &gt; ../manifests/r061.packages.md5)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9" b="1">
                <a:solidFill>
                  <a:srgbClr val="5F748C"/>
                </a:solidFill>
                <a:latin typeface="Consolas"/>
              </a:rPr>
              <a:t>  </a:t>
            </a:r>
            <a:r>
              <a:rPr sz="969" b="0">
                <a:solidFill>
                  <a:srgbClr val="7C8B9E"/>
                </a:solidFill>
                <a:latin typeface="Consolas"/>
              </a:rPr>
              <a:t>rm -rf release/tempLib            # tempLib 里是发布物的第二份拷贝，别让它长大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99248" y="2160727"/>
          <a:ext cx="3925518" cy="18557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4730"/>
                <a:gridCol w="1481328"/>
                <a:gridCol w="1629460"/>
              </a:tblGrid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F4F1EA"/>
                          </a:solidFill>
                          <a:latin typeface="Calibri"/>
                        </a:rPr>
                        <a:t>对象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F4F1EA"/>
                          </a:solidFill>
                          <a:latin typeface="Calibri"/>
                        </a:rPr>
                        <a:t>动作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F4F1EA"/>
                          </a:solidFill>
                          <a:latin typeface="Calibri"/>
                        </a:rPr>
                        <a:t>解决什么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398525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7253B"/>
                          </a:solidFill>
                          <a:latin typeface="Calibri"/>
                        </a:rPr>
                        <a:t>发布盘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42B33"/>
                          </a:solidFill>
                          <a:latin typeface="Calibri"/>
                        </a:rPr>
                        <a:t>chmod -R a-w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42B33"/>
                          </a:solidFill>
                          <a:latin typeface="Calibri"/>
                        </a:rPr>
                        <a:t>防误覆盖；要改必须升 SKU 重发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98525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7253B"/>
                          </a:solidFill>
                          <a:latin typeface="Calibri"/>
                        </a:rPr>
                        <a:t>登记簿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42B33"/>
                          </a:solidFill>
                          <a:latin typeface="Calibri"/>
                        </a:rPr>
                        <a:t>bundle 按里程碑归档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42B33"/>
                          </a:solidFill>
                          <a:latin typeface="Calibri"/>
                        </a:rPr>
                        <a:t>设计师申请版本时唯一的引用名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98525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7253B"/>
                          </a:solidFill>
                          <a:latin typeface="Calibri"/>
                        </a:rPr>
                        <a:t>校验和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42B33"/>
                          </a:solidFill>
                          <a:latin typeface="Calibri"/>
                        </a:rPr>
                        <a:t>packages.md5 / configs.md5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42B33"/>
                          </a:solidFill>
                          <a:latin typeface="Calibri"/>
                        </a:rPr>
                        <a:t>半年后怀疑内容变了时唯一手段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7253B"/>
                          </a:solidFill>
                          <a:latin typeface="Calibri"/>
                        </a:rPr>
                        <a:t>变更日志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42B33"/>
                          </a:solidFill>
                          <a:latin typeface="Calibri"/>
                        </a:rPr>
                        <a:t>人工写 + 附通告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42B33"/>
                          </a:solidFill>
                          <a:latin typeface="Calibri"/>
                        </a:rPr>
                        <a:t>通告正文模板见 M3.5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4224528"/>
          <a:ext cx="11057838" cy="16259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4677"/>
                <a:gridCol w="6671258"/>
                <a:gridCol w="2101903"/>
              </a:tblGrid>
              <a:tr h="28483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F4F1EA"/>
                          </a:solidFill>
                          <a:latin typeface="Calibri"/>
                        </a:rPr>
                        <a:t>场景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F4F1EA"/>
                          </a:solidFill>
                          <a:latin typeface="Calibri"/>
                        </a:rPr>
                        <a:t>正确姿势 / 会看到什么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F4F1EA"/>
                          </a:solidFill>
                          <a:latin typeface="Calibri"/>
                        </a:rPr>
                        <a:t>出现在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① 全量发布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首包 FULL；后续大版本新目录也 FULL（新 SDIR）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每个新目录第一次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② hotfix 链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首包 FULL，其余全 PATCH，SDIR 沿用基线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只发差异文件，包体极小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③ 基线缺失就上 PATCH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仍会装，但报 Base directory … is missing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顺序错误会被记下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④ 用 FULL 重发同目录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ERROR: Kit directory … already exist → conflict root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改内容必须升 SKU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⑤ 多卷大库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手写多行 FILE（MULTI 不可用）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Foundry 分卷交付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2E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2E5D46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“只增不改 + 每步留登记”是库资料管理的全部纪律；两条 chmod/awk 命令就能落地。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M2.9 · HOTFIX 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一个 PDK 主版本背后是七个 5 MB 的补丁包，而不是七个 5 GB 的全量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清单写法 → 生成的 .tlp → 安装期叠加效果，全部为实测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5989320" cy="3950208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88743"/>
            <a:ext cx="5623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清单与生成的 .TLP（PATCH + 沿用 SDIR）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17927"/>
            <a:ext cx="5605272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7C8B9E"/>
                </a:solidFill>
                <a:latin typeface="Consolas"/>
              </a:rPr>
              <a:t># lists/CTK_hf.csv 的两行（其余列同全量发布）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PATCH …FDK CTK PT28HPCKITCTK_r0.6.1HF1 ctk28_r061 … PT28HPCKITCTK_r0.6.1 &lt;delta目录&gt;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PATCH …FDK CTK PT28HPCKITCTK_r0.6.1HF2 ctk28_r061 … …HF1 &lt;delta目录&gt;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7C8B9E"/>
                </a:solidFill>
                <a:latin typeface="Consolas"/>
              </a:rPr>
              <a:t># pack 产物：SDIR 与基线相同 → 安装期叠加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BEGIN  TLP  PATCH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NAME   PT28HPCKITCTK_r0.6.1HF1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1">
                <a:solidFill>
                  <a:srgbClr val="E3C07A"/>
                </a:solidFill>
                <a:latin typeface="Consolas"/>
              </a:rPr>
              <a:t>SDIR   ctk28_r061          ← 关键：与基线同名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DEPN   KIT=  PT28HPCKITCTK_r0.6.1   ← 链式指上一个 HF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FILE   PT28HPCKITCTK_r0.6.1HF1.tgz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4848" y="2160727"/>
            <a:ext cx="4839919" cy="1938528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6016" y="2288743"/>
            <a:ext cx="44741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安装结果（真机）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016" y="2617927"/>
            <a:ext cx="445587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tlp_install … --bundleList CTK_hf.bundle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  : Directory '…/ctk28_r061' already exist.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INFO: Unpacking '…HF1.tgz' / '…HF2.tgz' ...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86B899"/>
                </a:solidFill>
                <a:latin typeface="Consolas"/>
              </a:rPr>
              <a:t>[tlp_install]: Total 2/2 kits are installed.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7C8B9E"/>
                </a:solidFill>
                <a:latin typeface="Consolas"/>
              </a:rPr>
              <a:t># 结果：README + README.HF1..HF7 + 每层一枚 .dts 标记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84848" y="3931920"/>
            <a:ext cx="4839919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84848" y="3931920"/>
            <a:ext cx="45720" cy="1755648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4114800"/>
            <a:ext cx="438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E6076"/>
                </a:solidFill>
                <a:latin typeface="Calibri"/>
              </a:rPr>
              <a:t>链式管理的三条规矩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4498848"/>
            <a:ext cx="4382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72" b="1">
                <a:solidFill>
                  <a:srgbClr val="4E6076"/>
                </a:solidFill>
                <a:latin typeface="Calibri"/>
              </a:rPr>
              <a:t>▪  </a:t>
            </a:r>
            <a:r>
              <a:rPr sz="1080" b="0">
                <a:solidFill>
                  <a:srgbClr val="242B33"/>
                </a:solidFill>
                <a:latin typeface="Calibri"/>
              </a:rPr>
              <a:t>REQU 指向“上一个 HF”，不是永远指基线 → 跳装才会被拦下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72" b="1">
                <a:solidFill>
                  <a:srgbClr val="4E6076"/>
                </a:solidFill>
                <a:latin typeface="Calibri"/>
              </a:rPr>
              <a:t>▪  </a:t>
            </a:r>
            <a:r>
              <a:rPr sz="1080" b="0">
                <a:solidFill>
                  <a:srgbClr val="242B33"/>
                </a:solidFill>
                <a:latin typeface="Calibri"/>
              </a:rPr>
              <a:t>bundle 里 HF 顺序 = 打补丁顺序；升级项目时只做“末尾追加”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72" b="1">
                <a:solidFill>
                  <a:srgbClr val="4E6076"/>
                </a:solidFill>
                <a:latin typeface="Calibri"/>
              </a:rPr>
              <a:t>▪  </a:t>
            </a:r>
            <a:r>
              <a:rPr sz="1080" b="0">
                <a:solidFill>
                  <a:srgbClr val="242B33"/>
                </a:solidFill>
                <a:latin typeface="Calibri"/>
              </a:rPr>
              <a:t>每次 HF 都要重跑一次目标库的 verify 并与上一里程碑 diff 文件清单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17253B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hotfix 的价值在于“差异可交付、过程可追溯、顺序可重放”——把三者都写进 .tlp 与 bundle，工具就会替你强制执行。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3" name="Picture 2" descr="p_d3.png"/>
          <p:cNvPicPr>
            <a:picLocks noChangeAspect="1"/>
          </p:cNvPicPr>
          <p:nvPr/>
        </p:nvPicPr>
        <p:blipFill>
          <a:blip r:embed="rId2"/>
          <a:srcRect l="23409" r="23409"/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46520" y="0"/>
            <a:ext cx="548640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842E"/>
                </a:solidFill>
                <a:latin typeface="Calibri"/>
              </a:rPr>
              <a:t>MODULE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47088"/>
            <a:ext cx="1371600" cy="17780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5760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4F1EA"/>
                </a:solidFill>
                <a:latin typeface="Georgia"/>
              </a:rPr>
              <a:t>交付：把库整理成设计团队能自助使用的产品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64992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3CE"/>
                </a:solidFill>
                <a:latin typeface="Calibri"/>
              </a:rPr>
              <a:t>管理者手上的“包”和设计师手上的“可用工艺库”之间，隔着三样交付物：一份 catalog、一条 bundle、一句可复制的命令。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交付三件套与自助安装路径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按岗位拆分的 techLib 最小集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bundle 的写法纪律（顺序 = 依赖）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变更通告与影响面分析模板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设计师侧的排错与禁忌清单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D8B9C"/>
                </a:solidFill>
                <a:latin typeface="Georgi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M3.1 · 交付物定义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给设计团队的不是“盘上的目录”，而是四样可以引用的东西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每一项都必须有名字、有位置、有校验方式，缺一项就会退化成口头交接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60727"/>
          <a:ext cx="11057838" cy="20433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4677"/>
                <a:gridCol w="3929645"/>
                <a:gridCol w="3015774"/>
                <a:gridCol w="1827742"/>
              </a:tblGrid>
              <a:tr h="28773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交付物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内容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解决什么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配套纪律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① 可自选的 catalog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dataSheets 按 节点/版本/分组/类型 归档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看得见才装得对；交互菜单的第一屏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有货未装差距可查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② 可引用的 bundle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每个里程碑一条清单文件（含顺序）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“用 Alpha 的基线” = 引用那一个文件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只追加、不排序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③ 一条可复制的命令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tlp_install --packageCfgDir / --packageSrcDir / --targetLibDir / --bundleList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写进通告正文，避免每个人发明装法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幂等：重跑即验收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④ 一页自助说明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最小集表 + 三条自查 + 报错对照 + 找谁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贴在项目 wiki 首页，工单量减半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verify 是唯一自证手段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4556455"/>
            <a:ext cx="11057839" cy="137160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684471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把四件套一次说清的“交付正文”模板（贴进通告即可）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013655"/>
            <a:ext cx="10673791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1">
                <a:solidFill>
                  <a:srgbClr val="E3C07A"/>
                </a:solidFill>
                <a:latin typeface="Consolas"/>
              </a:rPr>
              <a:t>项目 Alpha / T28HPC 0p5 · 基线 2026-09-04_r0.6.1+HF2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catalog   /tlppkg/release/T28HPC/0p5/dataSheets          （只读，可自行浏览）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bundle    /proj/Alpha/meta/techLib.bundle               （8 行，含安装顺序）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命令      tlp_install --packageCfgDir &lt;cfgs&gt; --packageSrcDir &lt;pkgs&gt; \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             --targetLibDir /proj/Alpha/$USER/techLib --bundleList &lt;bundle&gt;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86B899"/>
                </a:solidFill>
                <a:latin typeface="Consolas"/>
              </a:rPr>
              <a:t>自检      bash /tools/tlm/contrib/tlp_verify.sh &lt;targetLibDir&gt; &lt;pkgs&gt;   → RESULT: 全部通过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交付质量的判据只有一条：新入职工程师拿着这四样，能不能在 15 分钟内独立装出并复验通过。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M3.2 · 按岗位的最小集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没人需要整套 PDK+IP：给每个岗位一条最短 bundle，磁盘和排错成本一起降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真实项目里同一份发布盘要服务 9 种角色，最小集是治理出来的，不是让他们自己猜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60727"/>
          <a:ext cx="11057836" cy="30338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2692"/>
                <a:gridCol w="2730330"/>
                <a:gridCol w="4004484"/>
                <a:gridCol w="2730330"/>
              </a:tblGrid>
              <a:tr h="29062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岗位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需要的 TYPE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bundle 片段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为什么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 i="0">
                          <a:solidFill>
                            <a:srgbClr val="17253B"/>
                          </a:solidFill>
                          <a:latin typeface="Calibri"/>
                        </a:rPr>
                        <a:t>RTL / 验证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CTK（含基线 PDK）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PT28HPCKITPDK → PT28HPCKITCTK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最小；仿真模型与 netlist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 i="0">
                          <a:solidFill>
                            <a:srgbClr val="17253B"/>
                          </a:solidFill>
                          <a:latin typeface="Calibri"/>
                        </a:rPr>
                        <a:t>综合 / DFT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PDK + STDCELL + MEMORY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…+ SC6T_base_e.1.0, MEM2PRF_r.0.6.1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时序库 + 存储器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 i="0">
                          <a:solidFill>
                            <a:srgbClr val="17253B"/>
                          </a:solidFill>
                          <a:latin typeface="Calibri"/>
                        </a:rPr>
                        <a:t>P&amp;R / signoff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全套 FDK + FIP + HIP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整条基线 bundle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ADF/GR规则/GPIO 全需要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 i="0">
                          <a:solidFill>
                            <a:srgbClr val="17253B"/>
                          </a:solidFill>
                          <a:latin typeface="Calibri"/>
                        </a:rPr>
                        <a:t>模拟 / 定制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PDK + ADF（+CTK）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不含 FIP/HIP 也可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PCell 与器件模型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 i="0">
                          <a:solidFill>
                            <a:srgbClr val="17253B"/>
                          </a:solidFill>
                          <a:latin typeface="Calibri"/>
                        </a:rPr>
                        <a:t>测试 / IO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PDK + GPIO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…+ GPIO_e.0.6.1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IO 库与 upf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1" i="0">
                          <a:solidFill>
                            <a:srgbClr val="17253B"/>
                          </a:solidFill>
                          <a:latin typeface="Calibri"/>
                        </a:rPr>
                        <a:t>流程 / CAD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整条 + 记录版本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按里程碑引用 bundle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70" b="0" i="0">
                          <a:solidFill>
                            <a:srgbClr val="242B33"/>
                          </a:solidFill>
                          <a:latin typeface="Calibri"/>
                        </a:rPr>
                        <a:t>维护 baseline 与 ECO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159959"/>
            <a:ext cx="5391759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159959"/>
            <a:ext cx="45720" cy="1143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342839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53B"/>
                </a:solidFill>
                <a:latin typeface="Calibri"/>
              </a:rPr>
              <a:t>管理者侧的落地方式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726887"/>
            <a:ext cx="4934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953" b="1">
                <a:solidFill>
                  <a:srgbClr val="4E6076"/>
                </a:solidFill>
                <a:latin typeface="Calibri"/>
              </a:rPr>
              <a:t>▪  </a:t>
            </a:r>
            <a:r>
              <a:rPr sz="1060" b="0">
                <a:solidFill>
                  <a:srgbClr val="242B33"/>
                </a:solidFill>
                <a:latin typeface="Calibri"/>
              </a:rPr>
              <a:t>为每个岗位预置一份 subset bundle 文件（不是文档里的口头描述）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953" b="1">
                <a:solidFill>
                  <a:srgbClr val="4E6076"/>
                </a:solidFill>
                <a:latin typeface="Calibri"/>
              </a:rPr>
              <a:t>▪  </a:t>
            </a:r>
            <a:r>
              <a:rPr sz="1060" b="0">
                <a:solidFill>
                  <a:srgbClr val="242B33"/>
                </a:solidFill>
                <a:latin typeface="Calibri"/>
              </a:rPr>
              <a:t>允许个人裁剪，但项目 baseline 一律使用完整 bundle，subset 另存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M3.3 · BUNDLE 的书写纪律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同一批 8 个包：保持安装顺序 → 8/8 成功；按字母排序 → 2/8 成功 6/8 依赖失败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这是全课唯一用“失败”来解释原理的页；TLM 的清单顺序不是排版，是依赖图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259986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60727"/>
            <a:ext cx="2599867" cy="36576"/>
          </a:xfrm>
          <a:prstGeom prst="rect">
            <a:avLst/>
          </a:prstGeom>
          <a:solidFill>
            <a:srgbClr val="2E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43607"/>
            <a:ext cx="22341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E5D46"/>
                </a:solidFill>
                <a:latin typeface="Georgia"/>
              </a:rPr>
              <a:t>8/8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19095"/>
            <a:ext cx="2234107" cy="320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6076"/>
                </a:solidFill>
                <a:latin typeface="Calibri"/>
              </a:rPr>
              <a:t>原序安装（.tlp_packages 顺序）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6251" y="2160727"/>
            <a:ext cx="259986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6251" y="2160727"/>
            <a:ext cx="2599867" cy="36576"/>
          </a:xfrm>
          <a:prstGeom prst="rect">
            <a:avLst/>
          </a:prstGeom>
          <a:solidFill>
            <a:srgbClr val="8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9131" y="2343607"/>
            <a:ext cx="22341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E2F2A"/>
                </a:solidFill>
                <a:latin typeface="Georgia"/>
              </a:rPr>
              <a:t>2/8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9131" y="2819095"/>
            <a:ext cx="2234107" cy="320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6076"/>
                </a:solidFill>
                <a:latin typeface="Calibri"/>
              </a:rPr>
              <a:t>同一清单 sort 之后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5575" y="2160727"/>
            <a:ext cx="259986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2160727"/>
            <a:ext cx="2599867" cy="36576"/>
          </a:xfrm>
          <a:prstGeom prst="rect">
            <a:avLst/>
          </a:prstGeom>
          <a:solidFill>
            <a:srgbClr val="8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8455" y="2343607"/>
            <a:ext cx="22341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E2F2A"/>
                </a:solidFill>
                <a:latin typeface="Georgia"/>
              </a:rPr>
              <a:t>6/8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8455" y="2819095"/>
            <a:ext cx="2234107" cy="320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6076"/>
                </a:solidFill>
                <a:latin typeface="Calibri"/>
              </a:rPr>
              <a:t>被判定 require check fail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4899" y="2160727"/>
            <a:ext cx="259986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4899" y="2160727"/>
            <a:ext cx="2599867" cy="36576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7779" y="2343607"/>
            <a:ext cx="22341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A8842E"/>
                </a:solidFill>
                <a:latin typeface="Georgia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7779" y="2819095"/>
            <a:ext cx="2234107" cy="320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6076"/>
                </a:solidFill>
                <a:latin typeface="Calibri"/>
              </a:rPr>
              <a:t>退出码（仍报成功！）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367735"/>
            <a:ext cx="5577840" cy="269748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495751"/>
            <a:ext cx="521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从现网抽取 BUNDLE（唯一正确姿势：保序去重）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824935"/>
            <a:ext cx="5193792" cy="2130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awk '!seen[$0]++' techLib/T28HPC/0p5/.tlp_packages &gt; meta/techLib.bundle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! </a:t>
            </a:r>
            <a:r>
              <a:rPr sz="950" b="0">
                <a:solidFill>
                  <a:srgbClr val="E08A84"/>
                </a:solidFill>
                <a:latin typeface="Consolas"/>
              </a:rPr>
              <a:t>sort -u  → ✗ 会毁掉依赖顺序（本页右列就是后果）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7C8B9E"/>
                </a:solidFill>
                <a:latin typeface="Consolas"/>
              </a:rPr>
              <a:t># 手工维护的清单同样只能追加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echo PT28HPCKITCTK_r0.6.1HF3 &gt;&gt; meta/techLib.bundle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7C8B9E"/>
                </a:solidFill>
                <a:latin typeface="Consolas"/>
              </a:rPr>
              <a:t># 不放心顺序：让拓扑排序器给出顺序（依赖必须写成有效形式）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bash topo.sh configs $(cat meta/techLib.bundle) &gt; meta/techLib.topo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373368" y="3367735"/>
          <a:ext cx="5251398" cy="2110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7121"/>
                <a:gridCol w="2184210"/>
                <a:gridCol w="1580067"/>
              </a:tblGrid>
              <a:tr h="2819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4F1EA"/>
                          </a:solidFill>
                          <a:latin typeface="Calibri"/>
                        </a:rPr>
                        <a:t>写法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4F1EA"/>
                          </a:solidFill>
                          <a:latin typeface="Calibri"/>
                        </a:rPr>
                        <a:t>怎么产生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4F1EA"/>
                          </a:solidFill>
                          <a:latin typeface="Calibri"/>
                        </a:rPr>
                        <a:t>用于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baseline bundle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从验收机的 .tlp_packages 抽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交付/冻结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hotfix 追加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只往末尾加一行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升级项目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手工 bundle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基线在前、派生在后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新项目起步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分两趟装同一清单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幂等，第一趟能装的先装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顺序不确定时的兜底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8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8E2F2A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把“bundle 只追加、不排序”写进规范；另有一个可依赖机制：REQU &lt;基线&gt; &lt;基线&gt; 会让 install 自动补装一层基线（见 M2.6）。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M3.4 · 三种安装模式怎么选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交互菜单用来探索，bundle 用来交付，包名用来补装——不要混用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同一个命令的三种形态，服务三种完全不同的场景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60727"/>
          <a:ext cx="11057837" cy="20982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6508"/>
                <a:gridCol w="2890638"/>
                <a:gridCol w="2615339"/>
                <a:gridCol w="734130"/>
                <a:gridCol w="2661222"/>
              </a:tblGrid>
              <a:tr h="28773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模式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行为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什么时候用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性质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注意 / 红线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7253B"/>
                          </a:solidFill>
                          <a:latin typeface="Calibri"/>
                        </a:rPr>
                        <a:t>--bundleList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批处理，按清单顺序逐个装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项目装机 / CI / 复现 / 交付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可重放、可审计：交付首选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7253B"/>
                          </a:solidFill>
                          <a:latin typeface="Calibri"/>
                        </a:rPr>
                        <a:t>交互菜单（不给包名）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选类别→选包，选一项立即执行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探索：看有哪些版本可选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A8842E"/>
                          </a:solidFill>
                          <a:latin typeface="Calibri"/>
                        </a:rPr>
                        <a:t>△ 有条件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勿用于正式库；中途退出留半成品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7253B"/>
                          </a:solidFill>
                          <a:latin typeface="Calibri"/>
                        </a:rPr>
                        <a:t>裸 SKU / .tlp 路径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只装指定包，REQU 可带出基线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补装 hotfix、临时试验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依赖可能拦；选项必须写在包名之前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4538167"/>
            <a:ext cx="11057839" cy="1481328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666183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交互菜单里必须认识的四个信号（现场演示输出）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995367"/>
            <a:ext cx="1067379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1">
                <a:solidFill>
                  <a:srgbClr val="E3C07A"/>
                </a:solidFill>
                <a:latin typeface="Consolas"/>
              </a:rPr>
              <a:t>  *  6) PT28HPCKITPDK_r0.6.1   :PDK :pdk28_r061      ← 行首 * 表示已装（h 可隐藏）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! </a:t>
            </a:r>
            <a:r>
              <a:rPr sz="960" b="0">
                <a:solidFill>
                  <a:srgbClr val="E08A84"/>
                </a:solidFill>
                <a:latin typeface="Consolas"/>
              </a:rPr>
              <a:t>ERROR: Required kit 'PT28HPCKITCTK_r0.6.1' has not been installed yet. → 先装基线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! </a:t>
            </a:r>
            <a:r>
              <a:rPr sz="960" b="0">
                <a:solidFill>
                  <a:srgbClr val="E08A84"/>
                </a:solidFill>
                <a:latin typeface="Consolas"/>
              </a:rPr>
              <a:t>ERROR: Kit directory 'ctk28_r061' already exist before installing full kit → 该用 PATCH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! </a:t>
            </a:r>
            <a:r>
              <a:rPr sz="960" b="0">
                <a:solidFill>
                  <a:srgbClr val="E08A84"/>
                </a:solidFill>
                <a:latin typeface="Consolas"/>
              </a:rPr>
              <a:t>WARNING: Base directory 'ctk28_r061' is missing for patch package → 基线没装就上 HF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INPUT: Select ? 3 2 1      ← 一行多个序号：按你写的顺序装（这里 1 基线在最后就会失败）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17253B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凡是“正式环境”的安装，一律走 --bundleList：交互模式的每一步都是即时写入，没有 dry-run 可退回。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M3.5 · 变更通告与影响面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通告的作用是“可执行”，不是“已告知”——每条通告必须能变成一条命令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左侧模板是实际项目在用格式；右侧是配套的影响面查询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5989320" cy="3950208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88743"/>
            <a:ext cx="5623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通告模板（可直接抄进 WIKI）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17927"/>
            <a:ext cx="5605272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1">
                <a:solidFill>
                  <a:srgbClr val="E3C07A"/>
                </a:solidFill>
                <a:latin typeface="Consolas"/>
              </a:rPr>
              <a:t>[T28HPC/0p5 发布 2026-09-04]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新增：PT28HPCKITCTK_r0.6.1HF3（依赖 HF2）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内容：&lt;路径&gt;/FIX.hf3 —— 修正 CTS mask 层规则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影响：使用 CTK ctk28_r061 的所有项目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动作：向你的 bundle 末尾追加该 SKU，重跑装机命令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  tlp_install --packageCfgDir … --bundleList &lt;你的&gt;.bundle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自检：bash tlp_verify.sh &lt;techLib&gt; &lt;pkgs&gt;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! </a:t>
            </a:r>
            <a:r>
              <a:rPr sz="960" b="0">
                <a:solidFill>
                  <a:srgbClr val="E08A84"/>
                </a:solidFill>
                <a:latin typeface="Consolas"/>
              </a:rPr>
              <a:t>勿追新：已用 HF2 过 signoff 的 tapeout 请沿用冻结档案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md5：8a1c…（档案内 packages.md5 可核）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4848" y="2160727"/>
            <a:ext cx="4839919" cy="201168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6016" y="2288743"/>
            <a:ext cx="44741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影响面：谁依赖这个包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016" y="2617927"/>
            <a:ext cx="4455871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grep -l '^DEPN' configs/*.tlp \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| xargs grep -l 'PT28HPCKITPDK_r0.6.1'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86B899"/>
                </a:solidFill>
                <a:latin typeface="Consolas"/>
              </a:rPr>
              <a:t>→ GPIO  MEM2PRF  ADF  CTK  STDCELL  (5 个)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84848" y="4023360"/>
            <a:ext cx="4839919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84848" y="4023360"/>
            <a:ext cx="45720" cy="1664208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4206240"/>
            <a:ext cx="438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E6076"/>
                </a:solidFill>
                <a:latin typeface="Calibri"/>
              </a:rPr>
              <a:t>通告的三条格式约定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4590288"/>
            <a:ext cx="4382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36" b="1">
                <a:solidFill>
                  <a:srgbClr val="4E6076"/>
                </a:solidFill>
                <a:latin typeface="Calibri"/>
              </a:rPr>
              <a:t>▪  </a:t>
            </a:r>
            <a:r>
              <a:rPr sz="1040" b="0">
                <a:solidFill>
                  <a:srgbClr val="242B33"/>
                </a:solidFill>
                <a:latin typeface="Calibri"/>
              </a:rPr>
              <a:t>不写“若干 bug 修复”，写文件级差异（FIX.hf3 / README.HF3）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36" b="1">
                <a:solidFill>
                  <a:srgbClr val="4E6076"/>
                </a:solidFill>
                <a:latin typeface="Calibri"/>
              </a:rPr>
              <a:t>▪  </a:t>
            </a:r>
            <a:r>
              <a:rPr sz="1040" b="0">
                <a:solidFill>
                  <a:srgbClr val="242B33"/>
                </a:solidFill>
                <a:latin typeface="Calibri"/>
              </a:rPr>
              <a:t>必带一行可复制命令，否则设计师会自己发明安装方式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36" b="1">
                <a:solidFill>
                  <a:srgbClr val="4E6076"/>
                </a:solidFill>
                <a:latin typeface="Calibri"/>
              </a:rPr>
              <a:t>▪  </a:t>
            </a:r>
            <a:r>
              <a:rPr sz="1040" b="0">
                <a:solidFill>
                  <a:srgbClr val="242B33"/>
                </a:solidFill>
                <a:latin typeface="Calibri"/>
              </a:rPr>
              <a:t>对已冻结项目明确“勿追新”，把风险写在通告里而不是口头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判断通告质量的方法：把它交给一个没参加过发布的人，看他能否独立完成升级并自证装对了。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M3.6 · 设计师日常：开工 / 自查 / 升级 / 回退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465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四个动作各一条命令，全部在项目家目录里完成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0170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这一页适合直接打印贴在工位；所有路径来自环境变量，不用改命令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42846"/>
            <a:ext cx="5989320" cy="3950208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70862"/>
            <a:ext cx="5623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① 开工：建/刷新自己的工作库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00046"/>
            <a:ext cx="5605272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setenv P /tlppkg/release/T28HPC/0p5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tlp_install --packageCfgDir $P/configs \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        --packageSrcDir $P/packages \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        --targetLibDir ~/techLib --bundleList /proj/Alpha/meta/techLib.bundle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bash /tools/tlm/contrib/tlp_verify.sh ~/techLib $P/packages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86B899"/>
                </a:solidFill>
                <a:latin typeface="Consolas"/>
              </a:rPr>
              <a:t>RESULT: 全部通过            ← 看到这行才开始跑工具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7C8B9E"/>
                </a:solidFill>
                <a:latin typeface="Consolas"/>
              </a:rPr>
              <a:t># 冒号可挂多盘源（稳定层 + 试验层），路径必须绝对且无空格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setenv  TECHLIB_PKGS $P/packages:/tlppkg/hotfix_staging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4848" y="1742846"/>
            <a:ext cx="4839919" cy="1975104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6016" y="1870862"/>
            <a:ext cx="44741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② 自查：我到底装了什么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016" y="2200046"/>
            <a:ext cx="4455871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ls ~/techLib/.tlp_install/ | sed 's/\.tlp$//'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cat ~/techLib/T28HPC/0p5/.tlp_packages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tail ~/techLib/.tlp_install.summary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1">
                <a:solidFill>
                  <a:srgbClr val="E3C07A"/>
                </a:solidFill>
                <a:latin typeface="Consolas"/>
              </a:rPr>
              <a:t>more …/&lt;SDIR&gt;/&lt;SKU&gt;.dts   # 这个库的包定义就在库里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84848" y="3931920"/>
            <a:ext cx="4839919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84848" y="3931920"/>
            <a:ext cx="45720" cy="914400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4114800"/>
            <a:ext cx="438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E6076"/>
                </a:solidFill>
                <a:latin typeface="Calibri"/>
              </a:rPr>
              <a:t>③ 升级（只追加）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4498848"/>
            <a:ext cx="4382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6" b="1">
                <a:solidFill>
                  <a:srgbClr val="4E6076"/>
                </a:solidFill>
                <a:latin typeface="Calibri"/>
              </a:rPr>
              <a:t>▪  </a:t>
            </a:r>
            <a:r>
              <a:rPr sz="1040" b="0">
                <a:solidFill>
                  <a:srgbClr val="242B33"/>
                </a:solidFill>
                <a:latin typeface="Calibri"/>
              </a:rPr>
              <a:t>echo &lt;新SKU&gt; &gt;&gt; …/meta/techLib.bundle，然后重跑 ①（幂等）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84848" y="4937760"/>
            <a:ext cx="4839919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84848" y="4937760"/>
            <a:ext cx="45720" cy="932688"/>
          </a:xfrm>
          <a:prstGeom prst="rect">
            <a:avLst/>
          </a:prstGeom>
          <a:solidFill>
            <a:srgbClr val="8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2592" y="5120640"/>
            <a:ext cx="438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F2A"/>
                </a:solidFill>
                <a:latin typeface="Calibri"/>
              </a:rPr>
              <a:t>④ 回退（不毁现场）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5504688"/>
            <a:ext cx="4382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6" b="1">
                <a:solidFill>
                  <a:srgbClr val="4E6076"/>
                </a:solidFill>
                <a:latin typeface="Calibri"/>
              </a:rPr>
              <a:t>▪  </a:t>
            </a:r>
            <a:r>
              <a:rPr sz="1040" b="0">
                <a:solidFill>
                  <a:srgbClr val="242B33"/>
                </a:solidFill>
                <a:latin typeface="Calibri"/>
              </a:rPr>
              <a:t>mv ~/techLib ~/techLib.bad 后重跑 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2E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2E5D46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①里的 verify 不是可选项：它是设计师唯一能自证“环境和别人一致”的手段，也是管理者收工单的第一道过滤器。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M3.7 · 工具链对接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EDA 挂载一律指向 &lt;类别&gt;/&lt;SDIR&gt;，所以 SDIR 改名等于全公司脚本作废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这是把“库管理”和“流程”解耦的唯一接缝，值得在项目模板里固化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6400800" cy="237744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88743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CSH 项目环境模板（TLU / 模型 /  NETLIST 路径）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17927"/>
            <a:ext cx="6016752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setenv TL_ROOT /proj/Alpha/$USER/techLib/T28HPC/0p5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setenv PDK_PATH  $TL_ROOT/FDK/PDK/pdk28_r061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setenv TLF_PATH  $TL_ROOT/FDK/CTK/ctk28_r061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setenv NETLIST_LIB $TL_ROOT/FIP/STDCELL/sc6t_e10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setenv ADF_PATH  $TL_ROOT/FDK/ADF/adf28_r061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96328" y="2160727"/>
          <a:ext cx="4428439" cy="2110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2339"/>
                <a:gridCol w="1402339"/>
                <a:gridCol w="1623761"/>
              </a:tblGrid>
              <a:tr h="2819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4F1EA"/>
                          </a:solidFill>
                          <a:latin typeface="Calibri"/>
                        </a:rPr>
                        <a:t>常见做法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4F1EA"/>
                          </a:solidFill>
                          <a:latin typeface="Calibri"/>
                        </a:rPr>
                        <a:t>后果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4F1EA"/>
                          </a:solidFill>
                          <a:latin typeface="Calibri"/>
                        </a:rPr>
                        <a:t>正确做法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7253B"/>
                          </a:solidFill>
                          <a:latin typeface="Calibri"/>
                        </a:rPr>
                        <a:t>改 SDIR 名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全部工具脚本作废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永不改；要变体就新 SKU + 新 SDIR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7253B"/>
                          </a:solidFill>
                          <a:latin typeface="Calibri"/>
                        </a:rPr>
                        <a:t>只装 subset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部分工具报缺库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按岗位最小集表装，缺项写明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7253B"/>
                          </a:solidFill>
                          <a:latin typeface="Calibri"/>
                        </a:rPr>
                        <a:t>手拷别人 techLib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表面能用，状态全乱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改用同一 bundle 重裝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7253B"/>
                          </a:solidFill>
                          <a:latin typeface="Calibri"/>
                        </a:rPr>
                        <a:t>热修不加就直接改文件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档案与内容不一致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走 HF 链 + 通告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4791456"/>
            <a:ext cx="1105783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45720" cy="1481328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974336"/>
            <a:ext cx="10600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53B"/>
                </a:solidFill>
                <a:latin typeface="Calibri"/>
              </a:rPr>
              <a:t>流程模板里固化的三条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358384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8" b="1">
                <a:solidFill>
                  <a:srgbClr val="4E6076"/>
                </a:solidFill>
                <a:latin typeface="Calibri"/>
              </a:rPr>
              <a:t>▪  </a:t>
            </a:r>
            <a:r>
              <a:rPr sz="1120" b="0">
                <a:solidFill>
                  <a:srgbClr val="242B33"/>
                </a:solidFill>
                <a:latin typeface="Calibri"/>
              </a:rPr>
              <a:t>EDA wrapper 只读 $PDK_PATH / $TLF_PATH 这类变量，禁止写绝对深路径 —— 换版本只换 bundle，不改流程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8" b="1">
                <a:solidFill>
                  <a:srgbClr val="4E6076"/>
                </a:solidFill>
                <a:latin typeface="Calibri"/>
              </a:rPr>
              <a:t>▪  </a:t>
            </a:r>
            <a:r>
              <a:rPr sz="1120" b="0">
                <a:solidFill>
                  <a:srgbClr val="242B33"/>
                </a:solidFill>
                <a:latin typeface="Calibri"/>
              </a:rPr>
              <a:t>run 元数据里记录 techLib.bundle 快照与 verify 结果，与 log 同目录存档，签核可追溯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8" b="1">
                <a:solidFill>
                  <a:srgbClr val="4E6076"/>
                </a:solidFill>
                <a:latin typeface="Calibri"/>
              </a:rPr>
              <a:t>▪  </a:t>
            </a:r>
            <a:r>
              <a:rPr sz="1120" b="0">
                <a:solidFill>
                  <a:srgbClr val="242B33"/>
                </a:solidFill>
                <a:latin typeface="Calibri"/>
              </a:rPr>
              <a:t>项目结束把 bundle + verify 输出交回管理者，作为“这一版用了哪些库”的正式答案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M3.8 · 设计师 FAQ 与禁忌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465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九成的现场求助，来自这六个动作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0170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把这一页放进项目 wiki，管理者的工单量会掉一半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42846"/>
          <a:ext cx="11057837" cy="3582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5774"/>
                <a:gridCol w="5391838"/>
                <a:gridCol w="2650225"/>
              </a:tblGrid>
              <a:tr h="29062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问题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真相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该怎么做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7253B"/>
                          </a:solidFill>
                          <a:latin typeface="Calibri"/>
                        </a:rPr>
                        <a:t>能不能 cp -r 别人的 techLib？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42B33"/>
                          </a:solidFill>
                          <a:latin typeface="Calibri"/>
                        </a:rPr>
                        <a:t>不能：.tlp_install 是指向别人绝对路径的符号链接，依赖检查与审计全部失真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42B33"/>
                          </a:solidFill>
                          <a:latin typeface="Calibri"/>
                        </a:rPr>
                        <a:t>用同一 bundle 自己重装（10 分钟）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7253B"/>
                          </a:solidFill>
                          <a:latin typeface="Calibri"/>
                        </a:rPr>
                        <a:t>能不能只装派生包不装基线？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42B33"/>
                          </a:solidFill>
                          <a:latin typeface="Calibri"/>
                        </a:rPr>
                        <a:t>看 DEPN 写法：有效写法会被拦；两字段写法不拦，但那是发布缺陷，不是许可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42B33"/>
                          </a:solidFill>
                          <a:latin typeface="Calibri"/>
                        </a:rPr>
                        <a:t>补 DEPN/REQU 后联系管理者，别绕过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7253B"/>
                          </a:solidFill>
                          <a:latin typeface="Calibri"/>
                        </a:rPr>
                        <a:t>.tlp 我能自己改吗？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42B33"/>
                          </a:solidFill>
                          <a:latin typeface="Calibri"/>
                        </a:rPr>
                        <a:t>可以在本地副本改，但必须同时改 SKU 名，否则你和别人装出的东西不一样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42B33"/>
                          </a:solidFill>
                          <a:latin typeface="Calibri"/>
                        </a:rPr>
                        <a:t>本地实验 → 提需求 → 管理者发布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7253B"/>
                          </a:solidFill>
                          <a:latin typeface="Calibri"/>
                        </a:rPr>
                        <a:t>能删 .dts / .tlp_install 来省空间吗？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42B33"/>
                          </a:solidFill>
                          <a:latin typeface="Calibri"/>
                        </a:rPr>
                        <a:t>不能：那是状态本体，删了 TLM 就“看不见”已装事实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42B33"/>
                          </a:solidFill>
                          <a:latin typeface="Calibri"/>
                        </a:rPr>
                        <a:t>卸载走三步法（库目录+链接+清单行）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7253B"/>
                          </a:solidFill>
                          <a:latin typeface="Calibri"/>
                        </a:rPr>
                        <a:t>怎么证明我这次跑用的是哪版库？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42B33"/>
                          </a:solidFill>
                          <a:latin typeface="Calibri"/>
                        </a:rPr>
                        <a:t>把 .tlp_packages 拷进 run.meta/ 并与 log 一起存档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42B33"/>
                          </a:solidFill>
                          <a:latin typeface="Calibri"/>
                        </a:rPr>
                        <a:t>verify 输出留在项目 wiki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7253B"/>
                          </a:solidFill>
                          <a:latin typeface="Calibri"/>
                        </a:rPr>
                        <a:t>新盘挂不上怎么办？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42B33"/>
                          </a:solidFill>
                          <a:latin typeface="Calibri"/>
                        </a:rPr>
                        <a:t>路径含空格 / 相对路径 / 忘了 --packageCfgDir（默认= PKGS）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42B33"/>
                          </a:solidFill>
                          <a:latin typeface="Calibri"/>
                        </a:rPr>
                        <a:t>三条一律用绝对路径 + 显式选项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禁忌只有一条主线：不要绕过 bundle。绕开 bundle 的每一个动作，都会在 tapeout 或回片那天变成一次排查。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3" name="Picture 2" descr="p_d4.png"/>
          <p:cNvPicPr>
            <a:picLocks noChangeAspect="1"/>
          </p:cNvPicPr>
          <p:nvPr/>
        </p:nvPicPr>
        <p:blipFill>
          <a:blip r:embed="rId2"/>
          <a:srcRect l="23409" r="23409"/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46520" y="0"/>
            <a:ext cx="548640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842E"/>
                </a:solidFill>
                <a:latin typeface="Calibri"/>
              </a:rPr>
              <a:t>MODULE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47088"/>
            <a:ext cx="1371600" cy="17780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5760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4F1EA"/>
                </a:solidFill>
                <a:latin typeface="Georgia"/>
              </a:rPr>
              <a:t>项目治理：让库资料成为可交付的证据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64992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3CE"/>
                </a:solidFill>
                <a:latin typeface="Calibri"/>
              </a:rPr>
              <a:t>项目经理要的从来不是“最新的库”，而是“三个月后还能一模一样装出来的那一版库”。本模块把这件事变成四项可检查的动作。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阶段与库动作的对应关系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冻结四件套与验收判据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复现证明：diff 与校验和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多节点 / 多项目并存规则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度量：用 4 个指标描述库治理健康度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D8B9C"/>
                </a:solidFill>
                <a:latin typeface="Georgia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M4.1 · 阶段与库动作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库治理在项目里有四个不可跳过的节点：立项定字典、里程碑冻结、复现验收、ECO 建档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时间轴来自本课程演示产品线 projAlpha（W = 周）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1874520"/>
            <a:ext cx="11057839" cy="0"/>
          </a:xfrm>
          <a:prstGeom prst="line">
            <a:avLst/>
          </a:prstGeom>
          <a:ln w="19050">
            <a:solidFill>
              <a:srgbClr val="2A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59308" y="1783080"/>
            <a:ext cx="15240" cy="182880"/>
          </a:xfrm>
          <a:prstGeom prst="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70876" y="1783080"/>
            <a:ext cx="15240" cy="182880"/>
          </a:xfrm>
          <a:prstGeom prst="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2444" y="1783080"/>
            <a:ext cx="15240" cy="182880"/>
          </a:xfrm>
          <a:prstGeom prst="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94011" y="1783080"/>
            <a:ext cx="15240" cy="182880"/>
          </a:xfrm>
          <a:prstGeom prst="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05579" y="1783080"/>
            <a:ext cx="15240" cy="182880"/>
          </a:xfrm>
          <a:prstGeom prst="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17147" y="1783080"/>
            <a:ext cx="15240" cy="182880"/>
          </a:xfrm>
          <a:prstGeom prst="rect">
            <a:avLst/>
          </a:prstGeom>
          <a:solidFill>
            <a:srgbClr val="17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" y="2011680"/>
            <a:ext cx="2120128" cy="411480"/>
          </a:xfrm>
          <a:prstGeom prst="rect">
            <a:avLst/>
          </a:prstGeom>
          <a:solidFill>
            <a:srgbClr val="24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4F1EA"/>
                </a:solidFill>
                <a:latin typeface="Calibri"/>
              </a:rPr>
              <a:t>1 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4216" y="2011680"/>
            <a:ext cx="2120128" cy="411480"/>
          </a:xfrm>
          <a:prstGeom prst="rect">
            <a:avLst/>
          </a:prstGeom>
          <a:solidFill>
            <a:srgbClr val="5C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4F1EA"/>
                </a:solidFill>
                <a:latin typeface="Calibri"/>
              </a:rPr>
              <a:t>2 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5784" y="2011680"/>
            <a:ext cx="2120127" cy="411480"/>
          </a:xfrm>
          <a:prstGeom prst="rect">
            <a:avLst/>
          </a:prstGeom>
          <a:solidFill>
            <a:srgbClr val="5C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4F1EA"/>
                </a:solidFill>
                <a:latin typeface="Calibri"/>
              </a:rPr>
              <a:t>16 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7351" y="2011680"/>
            <a:ext cx="2120128" cy="411480"/>
          </a:xfrm>
          <a:prstGeom prst="rect">
            <a:avLst/>
          </a:prstGeom>
          <a:solidFill>
            <a:srgbClr val="5C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4F1EA"/>
                </a:solidFill>
                <a:latin typeface="Calibri"/>
              </a:rPr>
              <a:t>3 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58919" y="2011680"/>
            <a:ext cx="2120128" cy="411480"/>
          </a:xfrm>
          <a:prstGeom prst="rect">
            <a:avLst/>
          </a:prstGeom>
          <a:solidFill>
            <a:srgbClr val="5C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4F1EA"/>
                </a:solidFill>
                <a:latin typeface="Calibri"/>
              </a:rPr>
              <a:t>滚动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" y="2560320"/>
            <a:ext cx="2120128" cy="2971799"/>
          </a:xfrm>
          <a:prstGeom prst="rect">
            <a:avLst/>
          </a:prstGeom>
          <a:solidFill>
            <a:srgbClr val="F4F1EA"/>
          </a:solidFill>
          <a:ln w="9525">
            <a:solidFill>
              <a:srgbClr val="697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l"/>
            <a:r>
              <a:rPr sz="900" b="1">
                <a:solidFill>
                  <a:srgbClr val="334560"/>
                </a:solidFill>
                <a:latin typeface="Calibri"/>
              </a:rPr>
              <a:t>W0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242B33"/>
                </a:solidFill>
                <a:latin typeface="Georgia"/>
              </a:rPr>
              <a:t>P0 立项：定字典</a:t>
            </a:r>
          </a:p>
          <a:p>
            <a:pPr algn="l">
              <a:spcBef>
                <a:spcPts val="800"/>
              </a:spcBef>
            </a:pPr>
            <a:r>
              <a:rPr sz="900" b="1">
                <a:solidFill>
                  <a:srgbClr val="2A3C55"/>
                </a:solidFill>
                <a:latin typeface="Calibri"/>
              </a:rPr>
              <a:t>交付清单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NODE/MVER/CATG/TYPE 字典评审签字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盘结构与权限规划（发布盘只读）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一次性补丁：让 DEPN 生效 + CI 判定</a:t>
            </a:r>
          </a:p>
          <a:p>
            <a:pPr algn="l">
              <a:spcBef>
                <a:spcPts val="800"/>
              </a:spcBef>
            </a:pPr>
            <a:r>
              <a:rPr sz="900" i="1">
                <a:solidFill>
                  <a:srgbClr val="17253B"/>
                </a:solidFill>
                <a:latin typeface="Calibri"/>
              </a:rPr>
              <a:t>退出门槛  命名规范 + 目录规划文档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24216" y="2560320"/>
            <a:ext cx="2120128" cy="2971799"/>
          </a:xfrm>
          <a:prstGeom prst="rect">
            <a:avLst/>
          </a:prstGeom>
          <a:solidFill>
            <a:srgbClr val="F4F1EA"/>
          </a:solidFill>
          <a:ln w="9525">
            <a:solidFill>
              <a:srgbClr val="697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l"/>
            <a:r>
              <a:rPr sz="900" b="1">
                <a:solidFill>
                  <a:srgbClr val="334560"/>
                </a:solidFill>
                <a:latin typeface="Calibri"/>
              </a:rPr>
              <a:t>W2-3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242B33"/>
                </a:solidFill>
                <a:latin typeface="Georgia"/>
              </a:rPr>
              <a:t>P1-P2 收货与铺开</a:t>
            </a:r>
          </a:p>
          <a:p>
            <a:pPr algn="l">
              <a:spcBef>
                <a:spcPts val="800"/>
              </a:spcBef>
            </a:pPr>
            <a:r>
              <a:rPr sz="900" b="1">
                <a:solidFill>
                  <a:srgbClr val="2A3C55"/>
                </a:solidFill>
                <a:latin typeface="Calibri"/>
              </a:rPr>
              <a:t>交付清单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6 个基础包发布 + catalog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9 名工程师各自装机并 verify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全员重跑一次的“搬家演练”</a:t>
            </a:r>
          </a:p>
          <a:p>
            <a:pPr algn="l">
              <a:spcBef>
                <a:spcPts val="800"/>
              </a:spcBef>
            </a:pPr>
            <a:r>
              <a:rPr sz="900" i="1">
                <a:solidFill>
                  <a:srgbClr val="17253B"/>
                </a:solidFill>
                <a:latin typeface="Calibri"/>
              </a:rPr>
              <a:t>退出门槛  verify 全绿 + 基线 bundle 入 Git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5784" y="2560320"/>
            <a:ext cx="2120127" cy="2971799"/>
          </a:xfrm>
          <a:prstGeom prst="rect">
            <a:avLst/>
          </a:prstGeom>
          <a:solidFill>
            <a:srgbClr val="F4F1EA"/>
          </a:solidFill>
          <a:ln w="9525">
            <a:solidFill>
              <a:srgbClr val="697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l"/>
            <a:r>
              <a:rPr sz="900" b="1">
                <a:solidFill>
                  <a:srgbClr val="334560"/>
                </a:solidFill>
                <a:latin typeface="Calibri"/>
              </a:rPr>
              <a:t>W8-24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242B33"/>
                </a:solidFill>
                <a:latin typeface="Georgia"/>
              </a:rPr>
              <a:t>P3 迭代与热修</a:t>
            </a:r>
          </a:p>
          <a:p>
            <a:pPr algn="l">
              <a:spcBef>
                <a:spcPts val="800"/>
              </a:spcBef>
            </a:pPr>
            <a:r>
              <a:rPr sz="900" b="1">
                <a:solidFill>
                  <a:srgbClr val="2A3C55"/>
                </a:solidFill>
                <a:latin typeface="Calibri"/>
              </a:rPr>
              <a:t>交付清单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HF1 / HF2 / HF3 链式发布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bundle 只追加、不排序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每次升级留文件级差异清单</a:t>
            </a:r>
          </a:p>
          <a:p>
            <a:pPr algn="l">
              <a:spcBef>
                <a:spcPts val="800"/>
              </a:spcBef>
            </a:pPr>
            <a:r>
              <a:rPr sz="900" i="1">
                <a:solidFill>
                  <a:srgbClr val="17253B"/>
                </a:solidFill>
                <a:latin typeface="Calibri"/>
              </a:rPr>
              <a:t>退出门槛  变更通告 + 影响面清单齐备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7351" y="2560320"/>
            <a:ext cx="2120128" cy="2971799"/>
          </a:xfrm>
          <a:prstGeom prst="rect">
            <a:avLst/>
          </a:prstGeom>
          <a:solidFill>
            <a:srgbClr val="F4F1EA"/>
          </a:solidFill>
          <a:ln w="9525">
            <a:solidFill>
              <a:srgbClr val="697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l"/>
            <a:r>
              <a:rPr sz="900" b="1">
                <a:solidFill>
                  <a:srgbClr val="334560"/>
                </a:solidFill>
                <a:latin typeface="Calibri"/>
              </a:rPr>
              <a:t>W26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242B33"/>
                </a:solidFill>
                <a:latin typeface="Georgia"/>
              </a:rPr>
              <a:t>P4 Tapeout 冻结</a:t>
            </a:r>
          </a:p>
          <a:p>
            <a:pPr algn="l">
              <a:spcBef>
                <a:spcPts val="800"/>
              </a:spcBef>
            </a:pPr>
            <a:r>
              <a:rPr sz="900" b="1">
                <a:solidFill>
                  <a:srgbClr val="2A3C55"/>
                </a:solidFill>
                <a:latin typeface="Calibri"/>
              </a:rPr>
              <a:t>交付清单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四件套：bundle + configs + packages + md5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ARCHIVE.sha256 + chmod a-w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冻结档案进版本控制</a:t>
            </a:r>
          </a:p>
          <a:p>
            <a:pPr algn="l">
              <a:spcBef>
                <a:spcPts val="800"/>
              </a:spcBef>
            </a:pPr>
            <a:r>
              <a:rPr sz="900" i="1">
                <a:solidFill>
                  <a:srgbClr val="17253B"/>
                </a:solidFill>
                <a:latin typeface="Calibri"/>
              </a:rPr>
              <a:t>退出门槛  档案自校验 8/8、8/8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58919" y="2560320"/>
            <a:ext cx="2120128" cy="2971799"/>
          </a:xfrm>
          <a:prstGeom prst="rect">
            <a:avLst/>
          </a:prstGeom>
          <a:solidFill>
            <a:srgbClr val="F4F1EA"/>
          </a:solidFill>
          <a:ln w="9525">
            <a:solidFill>
              <a:srgbClr val="697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wrap="square"/>
          <a:lstStyle/>
          <a:p>
            <a:pPr algn="l"/>
            <a:r>
              <a:rPr sz="900" b="1">
                <a:solidFill>
                  <a:srgbClr val="334560"/>
                </a:solidFill>
                <a:latin typeface="Calibri"/>
              </a:rPr>
              <a:t>W26+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242B33"/>
                </a:solidFill>
                <a:latin typeface="Georgia"/>
              </a:rPr>
              <a:t>P5-P7 复现与 ECO</a:t>
            </a:r>
          </a:p>
          <a:p>
            <a:pPr algn="l">
              <a:spcBef>
                <a:spcPts val="800"/>
              </a:spcBef>
            </a:pPr>
            <a:r>
              <a:rPr sz="900" b="1">
                <a:solidFill>
                  <a:srgbClr val="2A3C55"/>
                </a:solidFill>
                <a:latin typeface="Calibri"/>
              </a:rPr>
              <a:t>交付清单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新人只凭档案复装 → diff 零差异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ECO 建 ECO1 新档案，不动 TAPEOUT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242B33"/>
                </a:solidFill>
                <a:latin typeface="Calibri"/>
              </a:rPr>
              <a:t>·  年度审计与退役标记</a:t>
            </a:r>
          </a:p>
          <a:p>
            <a:pPr algn="l">
              <a:spcBef>
                <a:spcPts val="800"/>
              </a:spcBef>
            </a:pPr>
            <a:r>
              <a:rPr sz="900" i="1">
                <a:solidFill>
                  <a:srgbClr val="17253B"/>
                </a:solidFill>
                <a:latin typeface="Calibri"/>
              </a:rPr>
              <a:t>退出门槛  复现证明归档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四个门禁里最省成本的是 P0 的补丁与字典：晚做一周，前面发布的一批包就永远不带依赖保护。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M4.2 · 冻结四件套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冻结不是拷贝目录，而是冻结一个可执行的定义：清单 + 定义 + 包 + 校验和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实测档案 20 个文件 = 8 个 .tlp + 8 个 .tgz + 2 份 md5 + bundle + sha256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6675120" cy="3913632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88743"/>
            <a:ext cx="63093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FREEZE.SH（BASH 写：要循环、子 SHELL、相对校验和）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17927"/>
            <a:ext cx="6291072" cy="3346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A=archive/projAlpha_T28HPC0p5_TAPEOUT; mkdir -p $A/configs $A/packages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7C8B9E"/>
                </a:solidFill>
                <a:latin typeface="Consolas"/>
              </a:rPr>
              <a:t># ① 清单：只允许保序去重，绝对不可排序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awk '!seen[$0]++' $G/techLib/T28HPC/0p5/.tlp_packages &gt; $A/techLib.bundle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7C8B9E"/>
                </a:solidFill>
                <a:latin typeface="Consolas"/>
              </a:rPr>
              <a:t># ② 自包含拷贝：不引用发布盘，档案自己能活下去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while read -r s; do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D8DDE3"/>
                </a:solidFill>
                <a:latin typeface="Consolas"/>
              </a:rPr>
              <a:t>    cp release/configs/$s.tlp  $A/configs/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D8DDE3"/>
                </a:solidFill>
                <a:latin typeface="Consolas"/>
              </a:rPr>
              <a:t>    cp release/packages/$s.tgz $A/packages/; done &lt; $A/techLib.bundle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7C8B9E"/>
                </a:solidFill>
                <a:latin typeface="Consolas"/>
              </a:rPr>
              <a:t># ③ 校验和：在各自目录内相对生成，md5sum -c 才对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(cd $A/packages &amp;&amp; md5sum *.tgz &gt; ../packages.md5)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(cd $A/configs  &amp;&amp; md5sum *.tlp &gt; ../configs.md5)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7C8B9E"/>
                </a:solidFill>
                <a:latin typeface="Consolas"/>
              </a:rPr>
              <a:t># ④ 档案指纹 + 上锁（此后连 rm 都会被拒）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find $A -type f ! -name ARCHIVE.sha256 | sort | xargs sha256sum &gt; $A/ARCHIVE.sha256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chmod -R a-w $A/configs $A/packages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70648" y="2160727"/>
          <a:ext cx="4154117" cy="3296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7907"/>
                <a:gridCol w="1398020"/>
                <a:gridCol w="1278190"/>
              </a:tblGrid>
              <a:tr h="27904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F4F1EA"/>
                          </a:solidFill>
                          <a:latin typeface="Calibri"/>
                        </a:rPr>
                        <a:t>档案成员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F4F1EA"/>
                          </a:solidFill>
                          <a:latin typeface="Calibri"/>
                        </a:rPr>
                        <a:t>内容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F4F1EA"/>
                          </a:solidFill>
                          <a:latin typeface="Calibri"/>
                        </a:rPr>
                        <a:t>作用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7253B"/>
                          </a:solidFill>
                          <a:latin typeface="Calibri"/>
                        </a:rPr>
                        <a:t>techLib.bundle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8 行，安装序 = 依赖序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复现的唯一入口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7253B"/>
                          </a:solidFill>
                          <a:latin typeface="Calibri"/>
                        </a:rPr>
                        <a:t>configs/ (8)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包定义，人可读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解释“当时用了哪些包”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7253B"/>
                          </a:solidFill>
                          <a:latin typeface="Calibri"/>
                        </a:rPr>
                        <a:t>packages/ (8)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包实体，只读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内容自证 + md5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7253B"/>
                          </a:solidFill>
                          <a:latin typeface="Calibri"/>
                        </a:rPr>
                        <a:t>packages/configs.md5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在目录内 -c 才可核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防“档案被改过”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7253B"/>
                          </a:solidFill>
                          <a:latin typeface="Calibri"/>
                        </a:rPr>
                        <a:t>ARCHIVE.sha256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档案级指纹（相对路径）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 i="0">
                          <a:solidFill>
                            <a:srgbClr val="242B33"/>
                          </a:solidFill>
                          <a:latin typeface="Calibri"/>
                        </a:rPr>
                        <a:t>交接与审计签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17253B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验收判据只有一句：把档案拷到另一台机器，只用它自己，能不能装出与 tapeout 当天逐文件相同的 techLib。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M4.3 · 复现验收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只凭冻结档案重装：8/8 安装成功、verify 全通过、diff 零差异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这是给项目负责人看的一次性证据；建议每次 tapeout 都留这一页的输出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6537960" cy="214884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88743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新机器 / 新同事，完全不碰发布盘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17927"/>
            <a:ext cx="6153912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tlp_install --packageCfgDir $A/configs --packageSrcDir $A/packages \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            --targetLibDir techLib --bundleList $A/techLib.bundle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86B899"/>
                </a:solidFill>
                <a:latin typeface="Consolas"/>
              </a:rPr>
              <a:t>[tlp_install]: Total 8/8 kits are installed.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bash tlp_verify.sh techLib $A/packages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86B899"/>
                </a:solidFill>
                <a:latin typeface="Consolas"/>
              </a:rPr>
              <a:t>RESULT: 全部通过        ← 清单 8 条记录、逐包核对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593031"/>
            <a:ext cx="6537960" cy="1481328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721047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与 TAPEOUT 现场逐文件比对（注意两条 -X）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050231"/>
            <a:ext cx="61539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diff -r -x '.tlp_install*' -x '.tlp_packages' techLib $G/techLib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86B899"/>
                </a:solidFill>
                <a:latin typeface="Consolas"/>
              </a:rPr>
              <a:t>✅ 无输出 → 复现成功（内容级一致）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1">
                <a:solidFill>
                  <a:srgbClr val="E3C07A"/>
                </a:solidFill>
                <a:latin typeface="Consolas"/>
              </a:rPr>
              <a:t># 不加 -x 必然报差异：.tlp_install.summary 含时间/用户/源路径，是噪声不是缺陷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33488" y="2160727"/>
            <a:ext cx="2035911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33488" y="2160727"/>
            <a:ext cx="2035911" cy="36576"/>
          </a:xfrm>
          <a:prstGeom prst="rect">
            <a:avLst/>
          </a:prstGeom>
          <a:solidFill>
            <a:srgbClr val="2E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7" y="2343607"/>
            <a:ext cx="16701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E5D46"/>
                </a:solidFill>
                <a:latin typeface="Georgia"/>
              </a:rPr>
              <a:t>8/8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7" y="2819095"/>
            <a:ext cx="16701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6076"/>
                </a:solidFill>
                <a:latin typeface="Calibri"/>
              </a:rPr>
              <a:t>档案内包全部装上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88855" y="2160727"/>
            <a:ext cx="2035911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88855" y="2160727"/>
            <a:ext cx="2035911" cy="36576"/>
          </a:xfrm>
          <a:prstGeom prst="rect">
            <a:avLst/>
          </a:prstGeom>
          <a:solidFill>
            <a:srgbClr val="2E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1735" y="2343607"/>
            <a:ext cx="16701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E5D46"/>
                </a:solidFill>
                <a:latin typeface="Georgia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1735" y="2819095"/>
            <a:ext cx="16701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6076"/>
                </a:solidFill>
                <a:latin typeface="Calibri"/>
              </a:rPr>
              <a:t>diff 内容差异（排除状态文件）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333488" y="3495751"/>
          <a:ext cx="4291278" cy="19812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3733"/>
                <a:gridCol w="2947545"/>
              </a:tblGrid>
              <a:tr h="2804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F4F1EA"/>
                          </a:solidFill>
                          <a:latin typeface="Calibri"/>
                        </a:rPr>
                        <a:t>若复现失败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F4F1EA"/>
                          </a:solidFill>
                          <a:latin typeface="Calibri"/>
                        </a:rPr>
                        <a:t>根因与动作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17253B"/>
                          </a:solidFill>
                          <a:latin typeface="Calibri"/>
                        </a:rPr>
                        <a:t>包缺一个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档案不完整 → 重新冻结，禁止手补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17253B"/>
                          </a:solidFill>
                          <a:latin typeface="Calibri"/>
                        </a:rPr>
                        <a:t>报 conflict root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把某包换成 FULL 重发过 → 查 configs 与 SDIR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17253B"/>
                          </a:solidFill>
                          <a:latin typeface="Calibri"/>
                        </a:rPr>
                        <a:t>报 dependency fail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bundle 被动过顺序 → 与 .tlp_packages 对比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2E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2E5D46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复现不是一次性动作：它应当在每次里程碑、每次存储迁移、每次审计时自动重跑。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　·　M4 项目治理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M4.4 · 回片与 ECO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档案不可变：ECO 用新目录表达增量，而不是往冻结档案里塞东西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391759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45720" cy="379476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6596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53B"/>
                </a:solidFill>
                <a:latin typeface="Calibri"/>
              </a:rPr>
              <a:t>错误做法：改 TAPEOUT 档案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8"/>
            <a:ext cx="4934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4E6076"/>
                </a:solidFill>
                <a:latin typeface="Calibri"/>
              </a:rPr>
              <a:t>▪  </a:t>
            </a:r>
            <a:r>
              <a:rPr sz="1150" b="0">
                <a:solidFill>
                  <a:srgbClr val="242B33"/>
                </a:solidFill>
                <a:latin typeface="Calibri"/>
              </a:rPr>
              <a:t>往 configs/packages 里追加 HF3 → 档案与 tapeout 现场不再等价
旧 bundle 与内容不一致，审计无法解释谁在何时改的
回滚没有参照物；“当时那一版”彻底消失
实测：上锁后连 rm 都会被 Permission denied 拒（这就是设计目的）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5391759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45720" cy="3794760"/>
          </a:xfrm>
          <a:prstGeom prst="rect">
            <a:avLst/>
          </a:prstGeom>
          <a:solidFill>
            <a:srgbClr val="4E6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0751" y="196596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E6076"/>
                </a:solidFill>
                <a:latin typeface="Calibri"/>
              </a:rPr>
              <a:t>正确做法：新建 ECO 档案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2350008"/>
            <a:ext cx="4934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4E6076"/>
                </a:solidFill>
                <a:latin typeface="Calibri"/>
              </a:rPr>
              <a:t>▪  </a:t>
            </a:r>
            <a:r>
              <a:rPr sz="1150" b="0">
                <a:solidFill>
                  <a:srgbClr val="242B33"/>
                </a:solidFill>
                <a:latin typeface="Calibri"/>
              </a:rPr>
              <a:t>照常走发布链产出 HF3（pack → import → 冒烟）
cp -r TAPEOUT ECO1 &amp;&amp; chmod -R u+w ECO1
ECO1/techLib.bundle = 原 8 行 + 第 9 行（只追加）
重算 ECO1 的 packages.md5 / configs.md5 / sha256
审计口径干净：TAPEOUT=流片真相，ECO1=现在真相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两个档案并存，比一个“被反复修改的档案”便宜得多——磁盘是小事，解释权是大事。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M4.5 · 多节点 / 多项目 / 多版本并存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并存的正确形状是“同结构、不同 targetLibDir”，而不是把版本混进一个库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TLM 的路径天然是 NODE/MVER 隔离的，剩下的纪律是项目侧的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60727"/>
          <a:ext cx="11057838" cy="2576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98548"/>
                <a:gridCol w="3198548"/>
                <a:gridCol w="4660742"/>
              </a:tblGrid>
              <a:tr h="29062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并存场景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不要这样做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60" b="1" i="0">
                          <a:solidFill>
                            <a:srgbClr val="F4F1EA"/>
                          </a:solidFill>
                          <a:latin typeface="Calibri"/>
                        </a:rPr>
                        <a:t>应该这样做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7253B"/>
                          </a:solidFill>
                          <a:latin typeface="Calibri"/>
                        </a:rPr>
                        <a:t>同一项目要 0p5 + 0p9 两套 model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同一 targetLibDir 里两个 bundle 混装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两个 targetLibDir + 两份 bundle；工具 env 明确指向哪个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7253B"/>
                          </a:solidFill>
                          <a:latin typeface="Calibri"/>
                        </a:rPr>
                        <a:t>A / B 两项目共用发布盘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互相装到对方目录 / 手拷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每人每项目独立 techLib，只共用只读发布盘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7253B"/>
                          </a:solidFill>
                          <a:latin typeface="Calibri"/>
                        </a:rPr>
                        <a:t>试装新 hotfix 又要保基线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直接往正式 techLib 上装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克隆 bundle 到 /tmp 目标目录试验，通过后再追加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7253B"/>
                          </a:solidFill>
                          <a:latin typeface="Calibri"/>
                        </a:rPr>
                        <a:t>大库要冷存储 / 换挂载点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改 .tlp / 重打包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冒号多源 TECHLIB_PKGS；bundle 与 configs 不动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7253B"/>
                          </a:solidFill>
                          <a:latin typeface="Calibri"/>
                        </a:rPr>
                        <a:t>同一 SKU 需同时服务两代产品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覆盖发布同内容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新 SKU + 新 SDIR，通告列差异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4718304"/>
            <a:ext cx="11057839" cy="1042415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84632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同一 TARGETLIBDIR 下两个 MVER 是可以并存的（路径天然隔离）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175504"/>
            <a:ext cx="10673791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T28HPC/0p5/FDK/PDK/pdk28_r061/…        ← 老项目基线（沿用，不动）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1">
                <a:solidFill>
                  <a:srgbClr val="E3C07A"/>
                </a:solidFill>
                <a:latin typeface="Consolas"/>
              </a:rPr>
              <a:t>T28HPC/0p9/FDK/PDK/pdk28_r090/…        ← 新项目；bundle 与 verify 各一份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D8DDE3"/>
                </a:solidFill>
                <a:latin typeface="Consolas"/>
              </a:rPr>
              <a:t># 只有“同一 SDIR 被两条版本链抢占”才会冲突 → 这正是 M2.9 conflict 的来源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17253B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并存靠目录结构和 bundle 表达，不靠人的记性。任何时候都应能回答：这个库里哪一行来自哪个 bundle。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M4.6 · 审计与治理查询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管理者每月四条查询，项目每里程碑一条查询，就能维持全貌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全部命令只读，可直接进 cron / 月检 checklist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6537960" cy="283464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88743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四条管理者查询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17927"/>
            <a:ext cx="6153912" cy="2267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7C8B9E"/>
                </a:solidFill>
                <a:latin typeface="Consolas"/>
              </a:rPr>
              <a:t># ① catalog 家底（版本目录里有什么）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find dataSheets -name '*.dts' | sort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7C8B9E"/>
                </a:solidFill>
                <a:latin typeface="Consolas"/>
              </a:rPr>
              <a:t># ② 某个 SKU 是否已登记（设计师说找不到时先查）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find dataSheets -name 'PT28HPCKITCTK*.dts'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7C8B9E"/>
                </a:solidFill>
                <a:latin typeface="Consolas"/>
              </a:rPr>
              <a:t># ③ 谁依赖它（要动基线 / 退役前必查，实测 5 个）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grep -l '^DEPN.*PT28HPCKITPDK_r0.6.1' configs/*.tlp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7C8B9E"/>
                </a:solidFill>
                <a:latin typeface="Consolas"/>
              </a:rPr>
              <a:t># ④ 各项目在用组合（盘点：谁在用什么）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grep -h '' /proj/*/meta/techLib.bundle | sort | uniq -c | sort -rn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33488" y="2160727"/>
            <a:ext cx="4291279" cy="283464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34656" y="2288743"/>
            <a:ext cx="39255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两条工程师/PM查询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656" y="2617927"/>
            <a:ext cx="3907231" cy="2267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7C8B9E"/>
                </a:solidFill>
                <a:latin typeface="Consolas"/>
              </a:rPr>
              <a:t># 有货未装（差距清单）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comm -13 \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&lt;(ls &lt;t&gt;/.tlp_install | sed 's/\.tlp$//' | sort) \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&lt;(find dataSheets -name '*.dts' -printf '%f\n' \ 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    | sed 's/\.dts$//' | sort -u)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7C8B9E"/>
                </a:solidFill>
                <a:latin typeface="Consolas"/>
              </a:rPr>
              <a:t># 最近装了什么（含时间/人/来源）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tail &lt;t&gt;/.tlp_install.summary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4245559"/>
          <a:ext cx="11057836" cy="9095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49429"/>
                <a:gridCol w="1228648"/>
                <a:gridCol w="1365165"/>
                <a:gridCol w="2184264"/>
                <a:gridCol w="2730330"/>
              </a:tblGrid>
              <a:tr h="28773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档案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包数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冻结周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md5 核过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复现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7253B"/>
                          </a:solidFill>
                          <a:latin typeface="Calibri"/>
                        </a:rPr>
                        <a:t>TAPEOUT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W26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8/8 · 8/8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diff 零差异 ✅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17253B"/>
                          </a:solidFill>
                          <a:latin typeface="Calibri"/>
                        </a:rPr>
                        <a:t>ECO1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W38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已重算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242B33"/>
                          </a:solidFill>
                          <a:latin typeface="Calibri"/>
                        </a:rPr>
                        <a:t>verify 通过 ✅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2E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2E5D46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把这 6 条查询写进月度运维脚本；“家底/差距/依赖/历史”四问一屏内答完，治理才可持续。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M4.7 · 度量：库治理健康度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465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四个指标足够描述一套库资料的健康度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0170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目标值是量级参考，不是承诺；关键是从第 2 个里程碑开始有曲线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5852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42B33"/>
                </a:solidFill>
                <a:latin typeface="Georgia"/>
              </a:rPr>
              <a:t>五个常用看板指标（示例填充值）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86000"/>
            <a:ext cx="187269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42B33"/>
                </a:solidFill>
                <a:latin typeface="Calibri"/>
              </a:rPr>
              <a:t>发布周期（收到 → catalog 可 Install 的等待）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22860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A3C55"/>
                </a:solidFill>
                <a:latin typeface="Calibri"/>
              </a:rPr>
              <a:t>2.5 天 · 目标 ≤ 1 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90800"/>
            <a:ext cx="5852160" cy="91440"/>
          </a:xfrm>
          <a:prstGeom prst="roundRect">
            <a:avLst>
              <a:gd name="adj" fmla="val 50000"/>
            </a:avLst>
          </a:prstGeom>
          <a:solidFill>
            <a:srgbClr val="C9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590800"/>
            <a:ext cx="2457907" cy="91440"/>
          </a:xfrm>
          <a:prstGeom prst="roundRect">
            <a:avLst>
              <a:gd name="adj" fmla="val 50000"/>
            </a:avLst>
          </a:prstGeom>
          <a:solidFill>
            <a:srgbClr val="33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734056"/>
            <a:ext cx="187269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42B33"/>
                </a:solidFill>
                <a:latin typeface="Calibri"/>
              </a:rPr>
              <a:t>复现成功率（档案复装 diff 零差异比例）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73405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A3C55"/>
                </a:solidFill>
                <a:latin typeface="Calibri"/>
              </a:rPr>
              <a:t>2 /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38856"/>
            <a:ext cx="5852160" cy="91440"/>
          </a:xfrm>
          <a:prstGeom prst="roundRect">
            <a:avLst>
              <a:gd name="adj" fmla="val 50000"/>
            </a:avLst>
          </a:prstGeom>
          <a:solidFill>
            <a:srgbClr val="C9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038856"/>
            <a:ext cx="5852160" cy="91440"/>
          </a:xfrm>
          <a:prstGeom prst="roundRect">
            <a:avLst>
              <a:gd name="adj" fmla="val 50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182112"/>
            <a:ext cx="187269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42B33"/>
                </a:solidFill>
                <a:latin typeface="Calibri"/>
              </a:rPr>
              <a:t>误装事件（缺基线上 hotfix / 手改库 / 覆盖发布）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31821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A3C55"/>
                </a:solidFill>
                <a:latin typeface="Calibri"/>
              </a:rPr>
              <a:t>目标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86912"/>
            <a:ext cx="5852160" cy="91440"/>
          </a:xfrm>
          <a:prstGeom prst="roundRect">
            <a:avLst>
              <a:gd name="adj" fmla="val 50000"/>
            </a:avLst>
          </a:prstGeom>
          <a:solidFill>
            <a:srgbClr val="C9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486912"/>
            <a:ext cx="468172" cy="91440"/>
          </a:xfrm>
          <a:prstGeom prst="roundRect">
            <a:avLst>
              <a:gd name="adj" fmla="val 50000"/>
            </a:avLst>
          </a:prstGeom>
          <a:solidFill>
            <a:srgbClr val="2A3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630168"/>
            <a:ext cx="187269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42B33"/>
                </a:solidFill>
                <a:latin typeface="Calibri"/>
              </a:rPr>
              <a:t>盘增长（release + archive，含 tempLib 清理之后）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36301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A3C55"/>
                </a:solidFill>
                <a:latin typeface="Calibri"/>
              </a:rPr>
              <a:t>1.6 TB / 半年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934968"/>
            <a:ext cx="5852160" cy="91440"/>
          </a:xfrm>
          <a:prstGeom prst="roundRect">
            <a:avLst>
              <a:gd name="adj" fmla="val 50000"/>
            </a:avLst>
          </a:prstGeom>
          <a:solidFill>
            <a:srgbClr val="C9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3934968"/>
            <a:ext cx="3218688" cy="91440"/>
          </a:xfrm>
          <a:prstGeom prst="roundRect">
            <a:avLst>
              <a:gd name="adj" fmla="val 50000"/>
            </a:avLst>
          </a:prstGeom>
          <a:solidFill>
            <a:srgbClr val="33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078224"/>
            <a:ext cx="187269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42B33"/>
                </a:solidFill>
                <a:latin typeface="Calibri"/>
              </a:rPr>
              <a:t>档案自校验通过率（md5 + sha256）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407822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A3C55"/>
                </a:solidFill>
                <a:latin typeface="Calibri"/>
              </a:rPr>
              <a:t>100 %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83024"/>
            <a:ext cx="5852160" cy="91440"/>
          </a:xfrm>
          <a:prstGeom prst="roundRect">
            <a:avLst>
              <a:gd name="adj" fmla="val 50000"/>
            </a:avLst>
          </a:prstGeom>
          <a:solidFill>
            <a:srgbClr val="C9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4383024"/>
            <a:ext cx="5852160" cy="91440"/>
          </a:xfrm>
          <a:prstGeom prst="roundRect">
            <a:avLst>
              <a:gd name="adj" fmla="val 50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434840"/>
            <a:ext cx="5852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2A3C55"/>
                </a:solidFill>
                <a:latin typeface="Calibri"/>
              </a:rPr>
              <a:t>数据来源：bundle 文件数、archive 自校验、工单登记；不需要 TLM 额外埋点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693408" y="1783080"/>
          <a:ext cx="4931358" cy="3299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4799"/>
                <a:gridCol w="2396548"/>
                <a:gridCol w="1060011"/>
              </a:tblGrid>
              <a:tr h="2819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4F1EA"/>
                          </a:solidFill>
                          <a:latin typeface="Calibri"/>
                        </a:rPr>
                        <a:t>指标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4F1EA"/>
                          </a:solidFill>
                          <a:latin typeface="Calibri"/>
                        </a:rPr>
                        <a:t>怎么量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4F1EA"/>
                          </a:solidFill>
                          <a:latin typeface="Calibri"/>
                        </a:rPr>
                        <a:t>期望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发布周期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catalog 可安装的滞后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≤1 个工作日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复现成功率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抽查：只用档案重装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误装事件数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工单里“装不上/缺包”计数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趋近 0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档案完整率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四件套齐 + 上锁 + sha256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每个里程碑 1 份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17253B"/>
                          </a:solidFill>
                          <a:latin typeface="Calibri"/>
                        </a:rPr>
                        <a:t>退役告知覆盖率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DEPRECATED 记号 + 通告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0" i="0">
                          <a:solidFill>
                            <a:srgbClr val="242B33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只有“复现成功率”是硬指标，其余是过程指标；前者跌了就说明档案在骗人。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M4.8 · 项目门禁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把库治理写进里程碑门禁清单，它就自动被执行；写进文档不会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建议直接复制进项目的 gate sheet，每项有 owner 与证据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60727"/>
          <a:ext cx="11057836" cy="37427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5147"/>
                <a:gridCol w="4237115"/>
                <a:gridCol w="2170230"/>
                <a:gridCol w="1601836"/>
                <a:gridCol w="930098"/>
                <a:gridCol w="723410"/>
              </a:tblGrid>
              <a:tr h="28628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节点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门禁项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证据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性质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级别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立项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字典与命名规范签字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文档 + 评审记录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必做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8E2F2A"/>
                          </a:solidFill>
                          <a:latin typeface="Calibri"/>
                        </a:rPr>
                        <a:t>✘ 无效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首次收货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发布盘只读 + bundle 入 Git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ls -ld / git log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Kit Admin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必做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8E2F2A"/>
                          </a:solidFill>
                          <a:latin typeface="Calibri"/>
                        </a:rPr>
                        <a:t>✘ 无效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每个里程碑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catalog grep (error) 零命中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import 日志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Kit Admin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自动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装机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每人 verify 全绿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verify 输出存档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工程师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自动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升级 hotfix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bundle 只追加 + 文件级 diff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通告附件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Kit Admin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必做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A8842E"/>
                          </a:solidFill>
                          <a:latin typeface="Calibri"/>
                        </a:rPr>
                        <a:t>△ 有条件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Tapeout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冻结四件套 + sha256 + a-w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档案目录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PM + Kit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必做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8E2F2A"/>
                          </a:solidFill>
                          <a:latin typeface="Calibri"/>
                        </a:rPr>
                        <a:t>✘ 无效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Tapeout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抽一人只凭档案复装成功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diff 报告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必做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8E2F2A"/>
                          </a:solidFill>
                          <a:latin typeface="Calibri"/>
                        </a:rPr>
                        <a:t>✘ 无效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回片 ECO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新建 ECO 档案，不改 TAPEOUT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两个档案并存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Kit Admin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必做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A8842E"/>
                          </a:solidFill>
                          <a:latin typeface="Calibri"/>
                        </a:rPr>
                        <a:t>△ 有条件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年度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审计六条查询 + 退役登记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月报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Kit Admin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定期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17253B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“抽一人只凭档案复装”这一项，是整套治理的总开关：它把前八项一次性验证完。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3" name="Picture 2" descr="p_d5.png"/>
          <p:cNvPicPr>
            <a:picLocks noChangeAspect="1"/>
          </p:cNvPicPr>
          <p:nvPr/>
        </p:nvPicPr>
        <p:blipFill>
          <a:blip r:embed="rId2"/>
          <a:srcRect l="23409" r="23409"/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46520" y="0"/>
            <a:ext cx="548640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842E"/>
                </a:solidFill>
                <a:latin typeface="Calibri"/>
              </a:rPr>
              <a:t>MODULE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47088"/>
            <a:ext cx="1371600" cy="17780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5760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4F1EA"/>
                </a:solidFill>
                <a:latin typeface="Georgia"/>
              </a:rPr>
              <a:t>坑 · CI · 运维：这套工具诚实的地方是它从不骗你报错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64992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3CE"/>
                </a:solidFill>
                <a:latin typeface="Calibri"/>
              </a:rPr>
              <a:t>TLM 绝大多数失败是静默的：退出码恒 0、写错的选项被当成包名、不生效的字段照样接受。本模块把这些行为一次性摊开。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TOP 12 静默坑与对策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一次性修补：三处 sed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CI 流水线：判定必须 grep 日志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csh / 路径空格 / awk 版本依赖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磁盘、权限、日志清理运维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D8B9C"/>
                </a:solidFill>
                <a:latin typeface="Georgia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M5.1 · TOP 静默坑（全部实跑复现）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四十八页教材里最该背下来的一页：工具照单全收，结果悄悄错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每条都在本课演示环境复现过；详细论证见《TLM 使用手册》第 11 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4151"/>
          <a:ext cx="11057838" cy="3461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7306"/>
                <a:gridCol w="4934903"/>
                <a:gridCol w="3335629"/>
              </a:tblGrid>
              <a:tr h="27904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F4F1EA"/>
                          </a:solidFill>
                          <a:latin typeface="Calibri"/>
                        </a:rPr>
                        <a:t>坑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F4F1EA"/>
                          </a:solidFill>
                          <a:latin typeface="Calibri"/>
                        </a:rPr>
                        <a:t>真实后果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F4F1EA"/>
                          </a:solidFill>
                          <a:latin typeface="Calibri"/>
                        </a:rPr>
                        <a:t>对策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17253B"/>
                          </a:solidFill>
                          <a:latin typeface="Calibri"/>
                        </a:rPr>
                        <a:t>关键字写成 GROUP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CATG 层为空 → catalog 出现 T28HPC/0p5//PDK 空层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只用 CATG；发布前 grep -L '^CATG'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17253B"/>
                          </a:solidFill>
                          <a:latin typeface="Calibri"/>
                        </a:rPr>
                        <a:t>DEPN 写成两字段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依赖检查完全不生效（自带样例即此种）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用 KIT &lt;类别&gt; TOPDIR 或 KIT=&lt;空白&gt;SKU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17253B"/>
                          </a:solidFill>
                          <a:latin typeface="Calibri"/>
                        </a:rPr>
                        <a:t>DEPN KIT=&lt;SKU&gt; 无空白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$3 为空 → 该包永远装不上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等号后留 Tab；见 M2.6 / M5.2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17253B"/>
                          </a:solidFill>
                          <a:latin typeface="Calibri"/>
                        </a:rPr>
                        <a:t>MD5S / SIZE / TDIR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只记录、不校验、不生效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md5sum -c 自己补 + gate 脚本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17253B"/>
                          </a:solidFill>
                          <a:latin typeface="Calibri"/>
                        </a:rPr>
                        <a:t>光写一行 END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/^END\s/ 不匹配 → END 之后仍被解析并覆盖前面字段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写 “END␣” 或 END ; 注释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17253B"/>
                          </a:solidFill>
                          <a:latin typeface="Calibri"/>
                        </a:rPr>
                        <a:t>选项写在包名之后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被当成包名 → exit 1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所有选项必须在位置参数前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17253B"/>
                          </a:solidFill>
                          <a:latin typeface="Calibri"/>
                        </a:rPr>
                        <a:t>--log 不在第一个选项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后续选项被当包名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--log 永远第一位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17253B"/>
                          </a:solidFill>
                          <a:latin typeface="Calibri"/>
                        </a:rPr>
                        <a:t>bundle 用 sort -u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依赖顺序被毁 → 6/8 require fail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只允许 awk 保序去重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17253B"/>
                          </a:solidFill>
                          <a:latin typeface="Calibri"/>
                        </a:rPr>
                        <a:t>tgz 顶层 ≠ SDIR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标记建在 A、内容解到 B → 第二包 conflict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打包规范 + gate 校验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17253B"/>
                          </a:solidFill>
                          <a:latin typeface="Calibri"/>
                        </a:rPr>
                        <a:t>包名找不到定义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CFG 默认 = PKGS 目录，看错目录名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永远显式给 --packageCfgDir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17253B"/>
                          </a:solidFill>
                          <a:latin typeface="Calibri"/>
                        </a:rPr>
                        <a:t>有 error 但退出码 0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脚本以为成功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CI 判定 grep '(error)' 日志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 i="0">
                          <a:solidFill>
                            <a:srgbClr val="17253B"/>
                          </a:solidFill>
                          <a:latin typeface="Calibri"/>
                        </a:rPr>
                        <a:t>路径含空格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setenv: Too many arguments 直接崩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42B33"/>
                          </a:solidFill>
                          <a:latin typeface="Calibri"/>
                        </a:rPr>
                        <a:t>命名一律无空格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把这 12 行压成一次 code review checklist，比任何培训都有效；其中有 5 行可以用脚本静态检查。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M5.2 · 一次性修补（P0 就该做）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三处 sed 让 TLM 的关键能力真正上线：依赖生效、退出码可用、awk 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改的是工具本体，改完 make install 重建软链即生效，无需重装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11057839" cy="219456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88743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在 $TLP_HOME 里执行（改前先 CP -R CSH CSH.ORIG 备份）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17927"/>
            <a:ext cx="10673791" cy="1627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7C8B9E"/>
                </a:solidFill>
                <a:latin typeface="Consolas"/>
              </a:rPr>
              <a:t># ① 让 tlp_pack 产出可生效的依赖写法（★KIT= 后面那个 \t 不能省）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sed -i 's|"DEPN\\t"kit_depend|"DEPN\\tKIT=\\t"kit_depend|' csh/tlp_pack.awk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7C8B9E"/>
                </a:solidFill>
                <a:latin typeface="Consolas"/>
              </a:rPr>
              <a:t># ② 让退出码可用于 CI：日志里出现 (error) 就返回 1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sed -i 's|^exit 0$|grep -q "(error)" $log_file &amp;&amp; exit 1\nexit 0|' csh/tlp_install.csh csh/tlp_import.csh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  </a:t>
            </a:r>
            <a:r>
              <a:rPr sz="960" b="0">
                <a:solidFill>
                  <a:srgbClr val="7C8B9E"/>
                </a:solidFill>
                <a:latin typeface="Consolas"/>
              </a:rPr>
              <a:t># ③ 交互菜单走 /usr/bin/awk：如果是 mawk，BEGINFILE 会直接语法失败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sed -i 's|/usr/bin/awk|/usr/bin/gawk|' csh/tlp_install.csh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60" b="1">
                <a:solidFill>
                  <a:srgbClr val="5F748C"/>
                </a:solidFill>
                <a:latin typeface="Consolas"/>
              </a:rPr>
              <a:t>$ </a:t>
            </a:r>
            <a:r>
              <a:rPr sz="960" b="0">
                <a:solidFill>
                  <a:srgbClr val="9CB4CE"/>
                </a:solidFill>
                <a:latin typeface="Consolas"/>
              </a:rPr>
              <a:t>make install &amp;&amp; ls -l bin/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501591"/>
            <a:ext cx="5391759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501591"/>
            <a:ext cx="45720" cy="1536192"/>
          </a:xfrm>
          <a:prstGeom prst="rect">
            <a:avLst/>
          </a:prstGeom>
          <a:solidFill>
            <a:srgbClr val="2E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684471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5D46"/>
                </a:solidFill>
                <a:latin typeface="Calibri"/>
              </a:rPr>
              <a:t>①的效果（实测）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068519"/>
            <a:ext cx="4934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3" b="1">
                <a:solidFill>
                  <a:srgbClr val="4E6076"/>
                </a:solidFill>
                <a:latin typeface="Calibri"/>
              </a:rPr>
              <a:t>▪  </a:t>
            </a:r>
            <a:r>
              <a:rPr sz="1060" b="0">
                <a:solidFill>
                  <a:srgbClr val="242B33"/>
                </a:solidFill>
                <a:latin typeface="Calibri"/>
              </a:rPr>
              <a:t>改动前：DEPN\t&lt;SKU&gt;           → 装派生包时无人拦截，缺基线也“成功”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3" b="1">
                <a:solidFill>
                  <a:srgbClr val="4E6076"/>
                </a:solidFill>
                <a:latin typeface="Calibri"/>
              </a:rPr>
              <a:t>▪  </a:t>
            </a:r>
            <a:r>
              <a:rPr sz="1060" b="0">
                <a:solidFill>
                  <a:srgbClr val="242B33"/>
                </a:solidFill>
                <a:latin typeface="Calibri"/>
              </a:rPr>
              <a:t>改动后：DEPN\tKIT=\t&lt;SKU&gt;     → 立即 Required kit '…' has not been installed yet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4501591"/>
            <a:ext cx="5391759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4501591"/>
            <a:ext cx="45720" cy="1536192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0751" y="4684471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8842E"/>
                </a:solidFill>
                <a:latin typeface="Calibri"/>
              </a:rPr>
              <a:t>打补丁的边界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751" y="5068519"/>
            <a:ext cx="4934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3" b="1">
                <a:solidFill>
                  <a:srgbClr val="4E6076"/>
                </a:solidFill>
                <a:latin typeface="Calibri"/>
              </a:rPr>
              <a:t>▪  </a:t>
            </a:r>
            <a:r>
              <a:rPr sz="1060" b="0">
                <a:solidFill>
                  <a:srgbClr val="242B33"/>
                </a:solidFill>
                <a:latin typeface="Calibri"/>
              </a:rPr>
              <a:t>②属于行为变更（原本恒 0）：上线前先在测试用例确认没有“可容忍的 error”被误判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3" b="1">
                <a:solidFill>
                  <a:srgbClr val="4E6076"/>
                </a:solidFill>
                <a:latin typeface="Calibri"/>
              </a:rPr>
              <a:t>▪  </a:t>
            </a:r>
            <a:r>
              <a:rPr sz="1060" b="0">
                <a:solidFill>
                  <a:srgbClr val="242B33"/>
                </a:solidFill>
                <a:latin typeface="Calibri"/>
              </a:rPr>
              <a:t>工具另有死代码分支（MULTI / pack_type、-v 与 TECHLIB_OPTION 全失效）→ 不要依赖，绕行即可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17253B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三项补丁解决“静默”里最危险的三类：假依赖、假成功、环境崩。其余坑靠规范与脚本挡。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M5.3 · 把发布接入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465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四道关卡，全部靠读日志判定，不靠退出码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0170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示例为 GitLab CI 片段；本地 make 目标同样适用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42846"/>
            <a:ext cx="11057839" cy="324612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70862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PIPELINE 片段（PACK → GATE → IMPORT → SMOKE → PUBLISH）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00046"/>
            <a:ext cx="10673791" cy="2679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publish: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script: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  - tlp_pack --packCfgDir $CFG --packDestDir $PKG --tempDir $TMP lists/$LIST.csv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  - bash contrib/chk.sh lists/$LIST.csv                       # 列数 / 列位 / LOCATION 存在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  - bash contrib/gate.sh $CFG $PKG                            # NAME=文件名 · CATG · DEPN 形式 · tgz顶层 · md5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  - tlp_import --log imp.log --packageCfgDir $CFG --packageSrcDir $PKG --dataSheetDir $DOCS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  - grep -q '(error)' imp.log &amp;&amp; exit 1        # ★ 退出码不可信，必须读日志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  - tlp_install --packageCfgDir $CFG --packageSrcDir $PKG --targetLibDir /tmp/ref --bundleList $BL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  - bash contrib/tlp_verify.sh /tmp/ref $PKG || exit 1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    - chmod -R a-w $CFG $PKG &amp;&amp; git add configs bundle &amp;&amp; git commit -m "release $LIST"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4988966"/>
          <a:ext cx="11057838" cy="16259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2193"/>
                <a:gridCol w="5666000"/>
                <a:gridCol w="3929645"/>
              </a:tblGrid>
              <a:tr h="28483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F4F1EA"/>
                          </a:solidFill>
                          <a:latin typeface="Calibri"/>
                        </a:rPr>
                        <a:t>关卡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F4F1EA"/>
                          </a:solidFill>
                          <a:latin typeface="Calibri"/>
                        </a:rPr>
                        <a:t>查什么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F4F1EA"/>
                          </a:solidFill>
                          <a:latin typeface="Calibri"/>
                        </a:rPr>
                        <a:t>抓住的事故类型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chk.sh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清单列数/列位、LOCATION 存在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结构性错误（串列必被抓）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gate.sh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.tlp 与 .tgz：名字一致、CATG、DEPN 形式、顶层目录、md5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语义性错误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tlp_import + grep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载荷缺失、基线定义缺失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发布门禁（红线条）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tlp_verify.sh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安装后：标记 / 目录 / 载荷三对齐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结果一致性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7253B"/>
                          </a:solidFill>
                          <a:latin typeface="Calibri"/>
                        </a:rPr>
                        <a:t>topo.sh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依赖排序、循环依赖、缺定义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42B33"/>
                          </a:solidFill>
                          <a:latin typeface="Calibri"/>
                        </a:rPr>
                        <a:t>bundle 顺序体检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M5.4 · 运行环境与依赖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六个环境事实，决定这套工具能不能在你的机器上跑起来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TLM 是 csh 脚本 + gawk，没有任何“安装器”：环境即配置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60727"/>
          <a:ext cx="11057838" cy="30309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4677"/>
                <a:gridCol w="4021032"/>
                <a:gridCol w="4752129"/>
              </a:tblGrid>
              <a:tr h="28773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事实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为什么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怎么办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csh / tcsh 必需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所有脚本 shebang 是 #!/bin/csh -f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装 csh；bash 用户套一个 csh 包装器（$argv:q 透传）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/usr/bin/f&lt;gawk&gt;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import/install/pack 里硬编码绝对路径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确认 /usr/bin/gawk 存在；另需 BEGINFILE/ENDFILE 支持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awk 必须是 gawk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交互菜单一处用 /usr/bin/awk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alternatives 指向 gawk，或按 M5.2 的 sed 改死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tree / tar / find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菜单画树、解包、查 .dts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缺 tree 时交互模式看不清目录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路径不能有空格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csh 参数按词拆分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挂载点与项目名用 _ / - 命名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tempLib 需要双份容量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pack 的目录归一化会整份复制 designkit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--tempDir 指大盘，发布后清理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337962"/>
            <a:ext cx="11057839" cy="105156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465978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给 BASH/ZSH 用户的包装器（实测可用；不要用 BASH 包装，空格会被切碎）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795162"/>
            <a:ext cx="10673791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#!/bin/csh -f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D8DDE3"/>
                </a:solidFill>
                <a:latin typeface="Consolas"/>
              </a:rPr>
              <a:t>if (! $?TLP_HOME) then;  echo 'ERROR: 先 setenv TLP_HOME'; exit 1; end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setenv PATH "$TLP_HOME/bin:$PATH" ;  set cmd = tlp_$1 ;  shift argv ;  $cmd $argv:q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环境检查建议做成一条 script-check.sh 放进 profile：缺 gawk / 缺 csh / 路径含空格三种情况当场报出来。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M5.5 · 剩下三个命令，也各给一例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838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tlp_check 是静默空壳、tlp_help 是导航、make 只是建软链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8508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三者都实测过；把它们的真实边界讲清楚，比留一个“以后会实现”的幻想安全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60727"/>
            <a:ext cx="3520440" cy="2395728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88743"/>
            <a:ext cx="3154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TLP_CHECK —— 实测：0 字节输出、EXIT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17927"/>
            <a:ext cx="31363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$ </a:t>
            </a:r>
            <a:r>
              <a:rPr sz="930" b="0">
                <a:solidFill>
                  <a:srgbClr val="9CB4CE"/>
                </a:solidFill>
                <a:latin typeface="Consolas"/>
              </a:rPr>
              <a:t>tlp_check --packageCfgDir $P/configs\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D8DDE3"/>
                </a:solidFill>
                <a:latin typeface="Consolas"/>
              </a:rPr>
              <a:t>            --targetLibDir ck PT28HPCKITPDK_r0.6.1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! </a:t>
            </a:r>
            <a:r>
              <a:rPr sz="930" b="0">
                <a:solidFill>
                  <a:srgbClr val="E08A84"/>
                </a:solidFill>
                <a:latin typeface="Consolas"/>
              </a:rPr>
              <a:t>stdout+stderr = 0 字节 · exit = 0 · 未建 ck · 未写日志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7C8B9E"/>
                </a:solidFill>
                <a:latin typeface="Consolas"/>
              </a:rPr>
              <a:t># 根因：首行 shebang 写坏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D8DDE3"/>
                </a:solidFill>
                <a:latin typeface="Consolas"/>
              </a:rPr>
              <a:t>#!/bin/csh -f set verbose=1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7C8B9E"/>
                </a:solidFill>
                <a:latin typeface="Consolas"/>
              </a:rPr>
              <a:t># → 经 bin/tlp_check 调用时脚本根本没执行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7C8B9E"/>
                </a:solidFill>
                <a:latin typeface="Consolas"/>
              </a:rPr>
              <a:t># 显式跑 csh -f csh/tlp_check.csh 才走流程：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D8DDE3"/>
                </a:solidFill>
                <a:latin typeface="Consolas"/>
              </a:rPr>
              <a:t># 只打 banner + 解析选项 + 写 END 时间戳，并把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D8DDE3"/>
                </a:solidFill>
                <a:latin typeface="Consolas"/>
              </a:rPr>
              <a:t># tlp_install.log 截断成它自己的两行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2160727"/>
            <a:ext cx="3520440" cy="2395728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2288743"/>
            <a:ext cx="3154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TLP_HELP —— 导航与内建动作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617927"/>
            <a:ext cx="31363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$ </a:t>
            </a:r>
            <a:r>
              <a:rPr sz="930" b="0">
                <a:solidFill>
                  <a:srgbClr val="9CB4CE"/>
                </a:solidFill>
                <a:latin typeface="Consolas"/>
              </a:rPr>
              <a:t>$ tlp_help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D8DDE3"/>
                </a:solidFill>
                <a:latin typeface="Consolas"/>
              </a:rPr>
              <a:t>  run env command readme start format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D8DDE3"/>
                </a:solidFill>
                <a:latin typeface="Consolas"/>
              </a:rPr>
              <a:t>  example testcase project update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D8DDE3"/>
                </a:solidFill>
                <a:latin typeface="Consolas"/>
              </a:rPr>
              <a:t>$ tlp_help command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! </a:t>
            </a:r>
            <a:r>
              <a:rPr sz="930" b="0">
                <a:solidFill>
                  <a:srgbClr val="E08A84"/>
                </a:solidFill>
                <a:latin typeface="Consolas"/>
              </a:rPr>
              <a:t>  → 只打印 2 段 Usage:（tlp_check 全静默）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D8DDE3"/>
                </a:solidFill>
                <a:latin typeface="Consolas"/>
              </a:rPr>
              <a:t>$ tlp_help env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! </a:t>
            </a:r>
            <a:r>
              <a:rPr sz="930" b="0">
                <a:solidFill>
                  <a:srgbClr val="E08A84"/>
                </a:solidFill>
                <a:latin typeface="Consolas"/>
              </a:rPr>
              <a:t>  TECHLIB_ROOT: Undefined variable.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7C8B9E"/>
                </a:solidFill>
                <a:latin typeface="Consolas"/>
              </a:rPr>
              <a:t># readme/format 指向 docs/（实际是 doc/）；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7C8B9E"/>
                </a:solidFill>
                <a:latin typeface="Consolas"/>
              </a:rPr>
              <a:t># start 还要外部 xpdf；update 里是 svn 命令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567" y="2160727"/>
            <a:ext cx="3651199" cy="2395728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288743"/>
            <a:ext cx="32854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MAKE INSTALL / SETUP.CSHRC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17927"/>
            <a:ext cx="326715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$ </a:t>
            </a:r>
            <a:r>
              <a:rPr sz="930" b="0">
                <a:solidFill>
                  <a:srgbClr val="9CB4CE"/>
                </a:solidFill>
                <a:latin typeface="Consolas"/>
              </a:rPr>
              <a:t>$ cd $TLP_HOME &amp;&amp; make install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D8DDE3"/>
                </a:solidFill>
                <a:latin typeface="Consolas"/>
              </a:rPr>
              <a:t>  make bin → 建 5 个软链到 csh/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D8DDE3"/>
                </a:solidFill>
                <a:latin typeface="Consolas"/>
              </a:rPr>
              <a:t>  tlp_check tlp_help tlp_import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D8DDE3"/>
                </a:solidFill>
                <a:latin typeface="Consolas"/>
              </a:rPr>
              <a:t>  tlp_install tlp_pack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7C8B9E"/>
                </a:solidFill>
                <a:latin typeface="Consolas"/>
              </a:rPr>
              <a:t># 不会装到 /usr/local：要自己加 PATH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$ </a:t>
            </a:r>
            <a:r>
              <a:rPr sz="930" b="0">
                <a:solidFill>
                  <a:srgbClr val="9CB4CE"/>
                </a:solidFill>
                <a:latin typeface="Consolas"/>
              </a:rPr>
              <a:t>$ source setup.cshrc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D8DDE3"/>
                </a:solidFill>
                <a:latin typeface="Consolas"/>
              </a:rPr>
              <a:t>  TLP_HOME / TECHLIB_PKGS / DOCS /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30" b="1">
                <a:solidFill>
                  <a:srgbClr val="5F748C"/>
                </a:solidFill>
                <a:latin typeface="Consolas"/>
              </a:rPr>
              <a:t>  </a:t>
            </a:r>
            <a:r>
              <a:rPr sz="930" b="0">
                <a:solidFill>
                  <a:srgbClr val="D8DDE3"/>
                </a:solidFill>
                <a:latin typeface="Consolas"/>
              </a:rPr>
              <a:t>  ROOT 设好并跑 tlp_help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4739335"/>
          <a:ext cx="11057838" cy="14932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2193"/>
                <a:gridCol w="2833000"/>
                <a:gridCol w="3838258"/>
                <a:gridCol w="2924387"/>
              </a:tblGrid>
              <a:tr h="28628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命令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本该做什么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实测状态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我们的用法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tlp_check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安装后校验（README 的三种用法）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空壳 + shebang 坏 → 完全静默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用 tlp_verify.sh；或修 shebang 与 log_file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tlp_help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文档与动作分发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部分子命令指向不存在的 docs/、依赖 xpdf、env 会崩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只当目录用；文档看配套手册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make install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生成 bin/ 软链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不复制、不安装，删了 bin 就没命令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部署后固定 PATH；改 csh/ 后重跑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五个命令里三个真有用（pack / import / install），一个当导航（help），一个是空壳（check）。把这当成事实来规划流程，而不是等它被实现。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M5.6 · 日常运维清单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465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五个维护动作，每月各一次，全部只读或可逆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0170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运维的目标只有一个：任何时刻都能回答“盘上有什么、谁在用、能不能复现”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42846"/>
          <a:ext cx="11057838" cy="29746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806"/>
                <a:gridCol w="3289935"/>
                <a:gridCol w="6397097"/>
              </a:tblGrid>
              <a:tr h="28628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对象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动作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F4F1EA"/>
                          </a:solidFill>
                          <a:latin typeface="Calibri"/>
                        </a:rPr>
                        <a:t>判据 / 第一反应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空间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release / archive / drop / tempLib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du -sh；tempLib 发布后即清；archive 走冷层但永不删包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权限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发布盘与档案只读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find -perm +w -name '*.tgz' 应为空（除当次发布窗口）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校验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manifest 抽查与年度全检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(cd …/packages &amp;&amp; md5sum -c ../packages.md5)；档案 sha256 用 -c 校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一致性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每人 techLib 与基线的差距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comm 差距查询 + verify；差距不是 0 就让工程师重装（10 分钟）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登记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catalog vs configs 双份核对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diff &lt;(ls configs/*.tlp) &lt;(find dataSheets -name '*.dts')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事故 ①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以为包“没发布”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先看 catalog 里有没有 .dts；没有就是 import 被门禁拒收，去查 imp.log 的 missing package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1" i="0">
                          <a:solidFill>
                            <a:srgbClr val="17253B"/>
                          </a:solidFill>
                          <a:latin typeface="Calibri"/>
                        </a:rPr>
                        <a:t>事故 ②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误改已发布包内容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 i="0">
                          <a:solidFill>
                            <a:srgbClr val="242B33"/>
                          </a:solidFill>
                          <a:latin typeface="Calibri"/>
                        </a:rPr>
                        <a:t>立刻升 SKU 重发；旧 SKU 保留并在 END 之后写 DEPRECATED，绝不覆盖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2E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2E5D46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运维的三个关键词：只读、可核、可逆——盘上任何东西都应能回答“谁改的、能不能查回来、能不能重来”。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3" name="Picture 2" descr="p_m6.png"/>
          <p:cNvPicPr>
            <a:picLocks noChangeAspect="1"/>
          </p:cNvPicPr>
          <p:nvPr/>
        </p:nvPicPr>
        <p:blipFill>
          <a:blip r:embed="rId2"/>
          <a:srcRect l="23409" r="23409"/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46520" y="0"/>
            <a:ext cx="548640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842E"/>
                </a:solidFill>
                <a:latin typeface="Calibri"/>
              </a:rPr>
              <a:t>MODULE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47088"/>
            <a:ext cx="1371600" cy="17780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5760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4F1EA"/>
                </a:solidFill>
                <a:latin typeface="Georgia"/>
              </a:rPr>
              <a:t>落地路线图与速查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64992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3CE"/>
                </a:solidFill>
                <a:latin typeface="Calibri"/>
              </a:rPr>
              <a:t>从“今天有一台机器装了 TLM”到“所有里程碑都靠档案交付”，需要三个 30 天；每一步都有可验收的产物。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062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30 / 60 / 90 天路线与责任人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两页速查卡（管理者 / 工程师）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结课测验与答案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35" b="1">
                <a:solidFill>
                  <a:srgbClr val="A8842E"/>
                </a:solidFill>
                <a:latin typeface="Calibri"/>
              </a:rPr>
              <a:t>▪  </a:t>
            </a:r>
            <a:r>
              <a:rPr sz="1150" b="0">
                <a:solidFill>
                  <a:srgbClr val="D3DAE2"/>
                </a:solidFill>
                <a:latin typeface="Calibri"/>
              </a:rPr>
              <a:t>配套文档与脚本索引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64190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D8B9C"/>
                </a:solidFill>
                <a:latin typeface="Georgia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M6.1 · 30 / 60 / 90 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465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第一个 30 天只求“能复现”，第二个才谈自动化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0170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按 1 名兼职 Kit 管理者 + 10 人设计团队的量级估计；每格都有可验收产物与 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42846"/>
            <a:ext cx="3503066" cy="566928"/>
          </a:xfrm>
          <a:prstGeom prst="rect">
            <a:avLst/>
          </a:prstGeom>
          <a:solidFill>
            <a:srgbClr val="2E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97710"/>
            <a:ext cx="31373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250" b="1">
                <a:solidFill>
                  <a:srgbClr val="F4F1EA"/>
                </a:solidFill>
                <a:latin typeface="Calibri"/>
              </a:rPr>
              <a:t>T1 立规矩 · W1–W4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E6ECF2"/>
                </a:solidFill>
                <a:latin typeface="Calibri"/>
              </a:rPr>
              <a:t>验收主题：能复现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309774"/>
            <a:ext cx="3503066" cy="3054096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37790"/>
            <a:ext cx="3137306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8A97A6"/>
                </a:solidFill>
                <a:latin typeface="Calibri"/>
              </a:rPr>
              <a:t>▪ </a:t>
            </a:r>
            <a:r>
              <a:rPr sz="1100" b="1">
                <a:solidFill>
                  <a:srgbClr val="17253B"/>
                </a:solidFill>
                <a:latin typeface="Calibri"/>
              </a:rPr>
              <a:t>命名与目录字典签字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4E6076"/>
                </a:solidFill>
                <a:latin typeface="Calibri"/>
              </a:rPr>
              <a:t>　　PM + Kit · W1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8A97A6"/>
                </a:solidFill>
                <a:latin typeface="Calibri"/>
              </a:rPr>
              <a:t>▪ </a:t>
            </a:r>
            <a:r>
              <a:rPr sz="1100" b="1">
                <a:solidFill>
                  <a:srgbClr val="17253B"/>
                </a:solidFill>
                <a:latin typeface="Calibri"/>
              </a:rPr>
              <a:t>三处补丁 + 环境自检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4E6076"/>
                </a:solidFill>
                <a:latin typeface="Calibri"/>
              </a:rPr>
              <a:t>　　Kit · W1-W2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8A97A6"/>
                </a:solidFill>
                <a:latin typeface="Calibri"/>
              </a:rPr>
              <a:t>▪ </a:t>
            </a:r>
            <a:r>
              <a:rPr sz="1100" b="1">
                <a:solidFill>
                  <a:srgbClr val="17253B"/>
                </a:solidFill>
                <a:latin typeface="Calibri"/>
              </a:rPr>
              <a:t>现有库收编成 .tlp + bundle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4E6076"/>
                </a:solidFill>
                <a:latin typeface="Calibri"/>
              </a:rPr>
              <a:t>　　Kit · W2-W4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A8842E"/>
                </a:solidFill>
                <a:latin typeface="Calibri"/>
              </a:rPr>
              <a:t>▪ </a:t>
            </a:r>
            <a:r>
              <a:rPr sz="1100" b="1">
                <a:solidFill>
                  <a:srgbClr val="17253B"/>
                </a:solidFill>
                <a:latin typeface="Calibri"/>
              </a:rPr>
              <a:t>第一次冻结 + 只凭档案复装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4E6076"/>
                </a:solidFill>
                <a:latin typeface="Calibri"/>
              </a:rPr>
              <a:t>　　PM · W4 ★门禁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418734"/>
            <a:ext cx="3503066" cy="15240"/>
          </a:xfrm>
          <a:prstGeom prst="rect">
            <a:avLst/>
          </a:prstGeom>
          <a:solidFill>
            <a:srgbClr val="2E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4314" y="1742846"/>
            <a:ext cx="3503066" cy="566928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7194" y="1797710"/>
            <a:ext cx="31373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250" b="1">
                <a:solidFill>
                  <a:srgbClr val="F4F1EA"/>
                </a:solidFill>
                <a:latin typeface="Calibri"/>
              </a:rPr>
              <a:t>T2 成习惯 · W5–W8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E6ECF2"/>
                </a:solidFill>
                <a:latin typeface="Calibri"/>
              </a:rPr>
              <a:t>验收主题：能交付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4314" y="2309774"/>
            <a:ext cx="3503066" cy="3054096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7194" y="2437790"/>
            <a:ext cx="3137306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8A97A6"/>
                </a:solidFill>
                <a:latin typeface="Calibri"/>
              </a:rPr>
              <a:t>▪ </a:t>
            </a:r>
            <a:r>
              <a:rPr sz="1100" b="1">
                <a:solidFill>
                  <a:srgbClr val="17253B"/>
                </a:solidFill>
                <a:latin typeface="Calibri"/>
              </a:rPr>
              <a:t>发布 SOP 上 wiki + 通告模板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4E6076"/>
                </a:solidFill>
                <a:latin typeface="Calibri"/>
              </a:rPr>
              <a:t>　　Kit · W5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8A97A6"/>
                </a:solidFill>
                <a:latin typeface="Calibri"/>
              </a:rPr>
              <a:t>▪ </a:t>
            </a:r>
            <a:r>
              <a:rPr sz="1100" b="1">
                <a:solidFill>
                  <a:srgbClr val="17253B"/>
                </a:solidFill>
                <a:latin typeface="Calibri"/>
              </a:rPr>
              <a:t>hotfix 链式发布上线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4E6076"/>
                </a:solidFill>
                <a:latin typeface="Calibri"/>
              </a:rPr>
              <a:t>　　Kit · W5-W8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8A97A6"/>
                </a:solidFill>
                <a:latin typeface="Calibri"/>
              </a:rPr>
              <a:t>▪ </a:t>
            </a:r>
            <a:r>
              <a:rPr sz="1100" b="1">
                <a:solidFill>
                  <a:srgbClr val="17253B"/>
                </a:solidFill>
                <a:latin typeface="Calibri"/>
              </a:rPr>
              <a:t>岗位最小集与自助脚本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4E6076"/>
                </a:solidFill>
                <a:latin typeface="Calibri"/>
              </a:rPr>
              <a:t>　　Kit · W6-W7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8A97A6"/>
                </a:solidFill>
                <a:latin typeface="Calibri"/>
              </a:rPr>
              <a:t>▪ </a:t>
            </a:r>
            <a:r>
              <a:rPr sz="1100" b="1">
                <a:solidFill>
                  <a:srgbClr val="17253B"/>
                </a:solidFill>
                <a:latin typeface="Calibri"/>
              </a:rPr>
              <a:t>verify 成为装机收尾动作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4E6076"/>
                </a:solidFill>
                <a:latin typeface="Calibri"/>
              </a:rPr>
              <a:t>　　全员 · W6-W8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4314" y="5418734"/>
            <a:ext cx="3503066" cy="15240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1700" y="1742846"/>
            <a:ext cx="3503066" cy="566928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4580" y="1797710"/>
            <a:ext cx="31373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250" b="1">
                <a:solidFill>
                  <a:srgbClr val="F4F1EA"/>
                </a:solidFill>
                <a:latin typeface="Calibri"/>
              </a:rPr>
              <a:t>T3 自动化 · W9–W12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00" b="0">
                <a:solidFill>
                  <a:srgbClr val="E6ECF2"/>
                </a:solidFill>
                <a:latin typeface="Calibri"/>
              </a:rPr>
              <a:t>验收主题：能托管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1700" y="2309774"/>
            <a:ext cx="3503066" cy="3054096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4580" y="2437790"/>
            <a:ext cx="3137306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8A97A6"/>
                </a:solidFill>
                <a:latin typeface="Calibri"/>
              </a:rPr>
              <a:t>▪ </a:t>
            </a:r>
            <a:r>
              <a:rPr sz="1100" b="1">
                <a:solidFill>
                  <a:srgbClr val="17253B"/>
                </a:solidFill>
                <a:latin typeface="Calibri"/>
              </a:rPr>
              <a:t>chk/gate/import/verify 进 CI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4E6076"/>
                </a:solidFill>
                <a:latin typeface="Calibri"/>
              </a:rPr>
              <a:t>　　CAD · W9-W11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8A97A6"/>
                </a:solidFill>
                <a:latin typeface="Calibri"/>
              </a:rPr>
              <a:t>▪ </a:t>
            </a:r>
            <a:r>
              <a:rPr sz="1100" b="1">
                <a:solidFill>
                  <a:srgbClr val="17253B"/>
                </a:solidFill>
                <a:latin typeface="Calibri"/>
              </a:rPr>
              <a:t>里程碑自动档案 + sha256 守护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4E6076"/>
                </a:solidFill>
                <a:latin typeface="Calibri"/>
              </a:rPr>
              <a:t>　　PM · W10-W12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8A97A6"/>
                </a:solidFill>
                <a:latin typeface="Calibri"/>
              </a:rPr>
              <a:t>▪ </a:t>
            </a:r>
            <a:r>
              <a:rPr sz="1100" b="1">
                <a:solidFill>
                  <a:srgbClr val="17253B"/>
                </a:solidFill>
                <a:latin typeface="Calibri"/>
              </a:rPr>
              <a:t>月检六条查询脚本化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4E6076"/>
                </a:solidFill>
                <a:latin typeface="Calibri"/>
              </a:rPr>
              <a:t>　　Kit · W11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00" b="1">
                <a:solidFill>
                  <a:srgbClr val="8A97A6"/>
                </a:solidFill>
                <a:latin typeface="Calibri"/>
              </a:rPr>
              <a:t>▪ </a:t>
            </a:r>
            <a:r>
              <a:rPr sz="1100" b="1">
                <a:solidFill>
                  <a:srgbClr val="17253B"/>
                </a:solidFill>
                <a:latin typeface="Calibri"/>
              </a:rPr>
              <a:t>退役与冷层策略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60" b="0" i="0">
                <a:solidFill>
                  <a:srgbClr val="4E6076"/>
                </a:solidFill>
                <a:latin typeface="Calibri"/>
              </a:rPr>
              <a:t>　　Kit · W12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1700" y="5418734"/>
            <a:ext cx="3503066" cy="1524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17253B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T1 结束只检查一件事：任意里程碑能否只用档案在另一台机器装出来；其余指标都是它的派生量。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M6.2 · 速查卡（管理者）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465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八条命令覆盖 95% 的日常发布工作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0170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P = /tlppkg/release/T28HPC/0p5（先 setenv）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42846"/>
            <a:ext cx="11057839" cy="2084831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70862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发布链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00046"/>
            <a:ext cx="10673791" cy="151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bash lists/chk.sh lists/r071.csv &amp;&amp; bash contrib/gate.sh $P/configs $P/packages    # 静态体检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tlp_pack --packCfgDir $P/configs --packDestDir $P/packages --tempDir $P/tempLib lists/r071.csv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7C8B9E"/>
                </a:solidFill>
                <a:latin typeface="Consolas"/>
              </a:rPr>
              <a:t>mv r071.bundle $P/bundles/                     # ★bundle 落在 CWD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tlp_import --log imp.log --packageCfgDir $P/configs --packageSrcDir $P/packages --dataSheetDir $P/dataSheets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  </a:t>
            </a:r>
            <a:r>
              <a:rPr sz="950" b="0">
                <a:solidFill>
                  <a:srgbClr val="7C8B9E"/>
                </a:solidFill>
                <a:latin typeface="Consolas"/>
              </a:rPr>
              <a:t>grep -q '(error)' imp.log &amp;&amp; echo FAIL          # 退出码不可信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tlp_install --packageCfgDir $P/configs --packageSrcDir $P/packages --targetLibDir /tmp/ref --bundleList $P/bundles/r071.bundle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50" b="1">
                <a:solidFill>
                  <a:srgbClr val="5F748C"/>
                </a:solidFill>
                <a:latin typeface="Consolas"/>
              </a:rPr>
              <a:t>$ </a:t>
            </a:r>
            <a:r>
              <a:rPr sz="950" b="0">
                <a:solidFill>
                  <a:srgbClr val="9CB4CE"/>
                </a:solidFill>
                <a:latin typeface="Consolas"/>
              </a:rPr>
              <a:t>bash contrib/tlp_verify.sh /tmp/ref $P/packages &amp;&amp; chmod -R a-w $P/packages $P/configs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4028846"/>
          <a:ext cx="11057839" cy="19336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1613"/>
                <a:gridCol w="3655484"/>
                <a:gridCol w="4660742"/>
              </a:tblGrid>
              <a:tr h="28773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现象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第一因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4F1EA"/>
                          </a:solidFill>
                          <a:latin typeface="Calibri"/>
                        </a:rPr>
                        <a:t>处置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找不到定义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CFG 未显式给 / SKUs 不在 catalog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--packageCfgDir；find dataSheets -name 'X.dts'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(dependency fail)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顺序 or DEPN 写法失效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bundle 保序；检查 M2.6 的有效写法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conflict root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FULL 撞已存在 SDIR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改 PATCH 或升 SKU 换 SDIR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缺载荷 (missing pacakge)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tgz 未同发 / 多源缺层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补冒号源；查 imp.log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1" i="0">
                          <a:solidFill>
                            <a:srgbClr val="17253B"/>
                          </a:solidFill>
                          <a:latin typeface="Calibri"/>
                        </a:rPr>
                        <a:t>装不上且名字为空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DEPN KIT=&lt;SKU&gt; 无空白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 i="0">
                          <a:solidFill>
                            <a:srgbClr val="242B33"/>
                          </a:solidFill>
                          <a:latin typeface="Calibri"/>
                        </a:rPr>
                        <a:t>等号后加 Tab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M6.3 · 速查卡（工程师 / PM）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465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工程师三行、PM 四问，日常不需要更多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0170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打印用；路径全部来自环境变量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42846"/>
            <a:ext cx="6675120" cy="173736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70862"/>
            <a:ext cx="63093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工程师：开工 / 自查 / 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00046"/>
            <a:ext cx="6291072" cy="1170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tlp_install --packageCfgDir $P/configs --packageSrcDir $P/packages --targetLibDir ~/techLib --bundleList $BASE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bash /tools/tlm/contrib/tlp_verify.sh ~/techLib $P/packages      # 必须 全部通过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  </a:t>
            </a:r>
            <a:r>
              <a:rPr sz="940" b="0">
                <a:solidFill>
                  <a:srgbClr val="7C8B9E"/>
                </a:solidFill>
                <a:latin typeface="Consolas"/>
              </a:rPr>
              <a:t>echo &lt;新SKU&gt; &gt;&gt; $BASE                # 升级 = 追加，不排序，然后重跑第一行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ls ~/techLib/.tlp_install/ | sed 's/\.tlp$//'                   # 权威已装集合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03320"/>
            <a:ext cx="6675120" cy="1234440"/>
          </a:xfrm>
          <a:prstGeom prst="rect">
            <a:avLst/>
          </a:prstGeom>
          <a:solidFill>
            <a:srgbClr val="11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831335"/>
            <a:ext cx="63093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FA6C0"/>
                </a:solidFill>
                <a:latin typeface="Calibri"/>
              </a:rPr>
              <a:t>卸载（TLM 没有 UNINSTALL，三步必须一起）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4160520"/>
            <a:ext cx="629107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rm -rf &lt;t&gt;/&lt;NODE&gt;/&lt;MVER&gt;/&lt;类别&gt;/&lt;SDIR&gt;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rm -f &lt;t&gt;/.tlp_install/&lt;SKU&gt;.tlp</a:t>
            </a:r>
          </a:p>
          <a:p>
            <a:pPr algn="l">
              <a:lnSpc>
                <a:spcPct val="110000"/>
              </a:lnSpc>
              <a:spcAft>
                <a:spcPts val="140"/>
              </a:spcAft>
            </a:pPr>
            <a:r>
              <a:rPr sz="940" b="1">
                <a:solidFill>
                  <a:srgbClr val="5F748C"/>
                </a:solidFill>
                <a:latin typeface="Consolas"/>
              </a:rPr>
              <a:t>$ </a:t>
            </a:r>
            <a:r>
              <a:rPr sz="940" b="0">
                <a:solidFill>
                  <a:srgbClr val="9CB4CE"/>
                </a:solidFill>
                <a:latin typeface="Consolas"/>
              </a:rPr>
              <a:t>grep -v '^&lt;SKU&gt;$' &lt;t&gt;/&lt;NODE&gt;/&lt;MVER&gt;/.tlp_packages &gt; t &amp;&amp; mv t .tlp_packages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470648" y="1742846"/>
          <a:ext cx="4154118" cy="2913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3270"/>
                <a:gridCol w="1906675"/>
                <a:gridCol w="584173"/>
              </a:tblGrid>
              <a:tr h="2804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F4F1EA"/>
                          </a:solidFill>
                          <a:latin typeface="Calibri"/>
                        </a:rPr>
                        <a:t>PM 四问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F4F1EA"/>
                          </a:solidFill>
                          <a:latin typeface="Calibri"/>
                        </a:rPr>
                        <a:t>答案在哪里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 i="0">
                          <a:solidFill>
                            <a:srgbClr val="F4F1EA"/>
                          </a:solidFill>
                          <a:latin typeface="Calibri"/>
                        </a:rPr>
                        <a:t>状态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17253B"/>
                          </a:solidFill>
                          <a:latin typeface="Calibri"/>
                        </a:rPr>
                        <a:t>这一版用了哪些库？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项目的 meta/techLib.bundle（8-9 行）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17253B"/>
                          </a:solidFill>
                          <a:latin typeface="Calibri"/>
                        </a:rPr>
                        <a:t>还能重装出来吗？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archive 四件套 + 只跑档案的复现记录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17253B"/>
                          </a:solidFill>
                          <a:latin typeface="Calibri"/>
                        </a:rPr>
                        <a:t>谁动过？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techLib/.tlp_install.summary + bundle 的 Git 历史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2E5D46"/>
                          </a:solidFill>
                          <a:latin typeface="Calibri"/>
                        </a:rPr>
                        <a:t>✔ 有效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17253B"/>
                          </a:solidFill>
                          <a:latin typeface="Calibri"/>
                        </a:rPr>
                        <a:t>现在缺什么？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 i="0">
                          <a:solidFill>
                            <a:srgbClr val="242B33"/>
                          </a:solidFill>
                          <a:latin typeface="Calibri"/>
                        </a:rPr>
                        <a:t>comm 差距查询（月检脚本第 5 条）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 i="0">
                          <a:solidFill>
                            <a:srgbClr val="A8842E"/>
                          </a:solidFill>
                          <a:latin typeface="Calibri"/>
                        </a:rPr>
                        <a:t>△ 有条件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470648" y="4626864"/>
            <a:ext cx="4154119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70648" y="4626864"/>
            <a:ext cx="45720" cy="1316736"/>
          </a:xfrm>
          <a:prstGeom prst="rect">
            <a:avLst/>
          </a:prstGeom>
          <a:solidFill>
            <a:srgbClr val="8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4809744"/>
            <a:ext cx="3696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F2A"/>
                </a:solidFill>
                <a:latin typeface="Calibri"/>
              </a:rPr>
              <a:t>六条禁忌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5193792"/>
            <a:ext cx="36969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18" b="1">
                <a:solidFill>
                  <a:srgbClr val="4E6076"/>
                </a:solidFill>
                <a:latin typeface="Calibri"/>
              </a:rPr>
              <a:t>▪  </a:t>
            </a:r>
            <a:r>
              <a:rPr sz="1019" b="0">
                <a:solidFill>
                  <a:srgbClr val="242B33"/>
                </a:solidFill>
                <a:latin typeface="Calibri"/>
              </a:rPr>
              <a:t>不 sort bundle · 不手删 .dts/.tlp_install · 不覆盖已发布 SKU
不 cp 别人 techLib · 不用交互建正式库 · 不放库的可写副本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382512"/>
            <a:ext cx="11057839" cy="10160"/>
          </a:xfrm>
          <a:prstGeom prst="rect">
            <a:avLst/>
          </a:prstGeom>
          <a:solidFill>
            <a:srgbClr val="C9C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55664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6"/>
                </a:solidFill>
                <a:latin typeface="Calibri"/>
              </a:rPr>
              <a:t>TLM 工艺库资料管理实务 · Library Kit Manager / 项目管理培训教材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4556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E6076"/>
                </a:solidFill>
                <a:latin typeface="Georgia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842E"/>
                </a:solidFill>
                <a:latin typeface="Calibri"/>
              </a:rPr>
              <a:t>M6.4 · 结课测验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9536"/>
            <a:ext cx="11057839" cy="465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53B"/>
                </a:solidFill>
                <a:latin typeface="Georgia"/>
              </a:rPr>
              <a:t>八道题能答对，就可以独立负责一套库资料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0170"/>
            <a:ext cx="11057839" cy="263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6076"/>
                </a:solidFill>
                <a:latin typeface="Calibri"/>
              </a:rPr>
              <a:t>答案在本课对应页；建议组内互评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42846"/>
          <a:ext cx="11057837" cy="39511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6935"/>
                <a:gridCol w="8133451"/>
                <a:gridCol w="2467451"/>
              </a:tblGrid>
              <a:tr h="29352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4F1EA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4F1EA"/>
                          </a:solidFill>
                          <a:latin typeface="Calibri"/>
                        </a:rPr>
                        <a:t>问题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4F1EA"/>
                          </a:solidFill>
                          <a:latin typeface="Calibri"/>
                        </a:rPr>
                        <a:t>参考答案出处</a:t>
                      </a:r>
                    </a:p>
                  </a:txBody>
                  <a:tcPr marL="59436" marR="59436" marT="32004" marB="32004" anchor="ctr">
                    <a:solidFill>
                      <a:srgbClr val="17253B"/>
                    </a:solidFill>
                    <a:lnB w="9525" cap="flat">
                      <a:solidFill>
                        <a:srgbClr val="17253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catalog 有 9 个包，但设计师的交互菜单只看到 6 个。最先查什么？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M2.7 / M5.1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同一批包，一条命令 8/8 成功，换一份清单 2/8 成功。差别在哪？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M3.3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MD5S 填错会怎样？该在哪一步真正校验？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M5.1 / M5.3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只装派生 hotfix 不装基线，会不会失败？取决于什么？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M2.6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想“重发一个修好的包”，为什么不能覆盖同名 SKU？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M2.8 / M3.8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Tapeout 冻结要留哪四件东西？只留 bundle 为什么不够？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M4.2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回片后又要一个 hotfix，TAPEOUT 档案该怎么处理？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M4.4</a:t>
                      </a:r>
                    </a:p>
                  </a:txBody>
                  <a:tcPr marL="59436" marR="59436" marT="36576" marB="36576" anchor="ctr">
                    <a:solidFill>
                      <a:srgbClr val="FFFFF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1725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所有命令的退出码都可用吗？CI 里怎么判成功？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242B33"/>
                          </a:solidFill>
                          <a:latin typeface="Calibri"/>
                        </a:rPr>
                        <a:t>M5.1 / M5.3</a:t>
                      </a:r>
                    </a:p>
                  </a:txBody>
                  <a:tcPr marL="59436" marR="59436" marT="36576" marB="36576" anchor="ctr">
                    <a:solidFill>
                      <a:srgbClr val="ECE8DF"/>
                    </a:solidFill>
                    <a:lnB w="9525" cap="flat">
                      <a:solidFill>
                        <a:srgbClr val="C9C2B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815584"/>
            <a:ext cx="11057839" cy="42062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815584"/>
            <a:ext cx="50292" cy="420624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833872"/>
            <a:ext cx="10692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60" b="1">
                <a:solidFill>
                  <a:srgbClr val="A8842E"/>
                </a:solidFill>
                <a:latin typeface="Calibri"/>
              </a:rPr>
              <a:t>判读　</a:t>
            </a:r>
            <a:r>
              <a:rPr sz="1120" b="0">
                <a:solidFill>
                  <a:srgbClr val="17253B"/>
                </a:solidFill>
                <a:latin typeface="Calibri"/>
              </a:rPr>
              <a:t>第 1、2、3 题答不出来，就不要独立做发布——这三条对应了 TLM 最常见的三类事故。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3" name="Picture 2" descr="p_close.png"/>
          <p:cNvPicPr>
            <a:picLocks noChangeAspect="1"/>
          </p:cNvPicPr>
          <p:nvPr/>
        </p:nvPicPr>
        <p:blipFill>
          <a:blip r:embed="rId2"/>
          <a:srcRect t="32843" b="32843"/>
          <a:stretch>
            <a:fillRect/>
          </a:stretch>
        </p:blipFill>
        <p:spPr>
          <a:xfrm>
            <a:off x="0" y="0"/>
            <a:ext cx="12191695" cy="2788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377440"/>
            <a:ext cx="12191695" cy="548640"/>
          </a:xfrm>
          <a:prstGeom prst="rect">
            <a:avLst/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4F1EA"/>
                </a:solidFill>
                <a:latin typeface="Georgia"/>
              </a:rPr>
              <a:t>带走的三句话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639312"/>
            <a:ext cx="1371600" cy="20320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931920"/>
            <a:ext cx="3429000" cy="1417320"/>
          </a:xfrm>
          <a:prstGeom prst="rect">
            <a:avLst/>
          </a:prstGeom>
          <a:solidFill>
            <a:srgbClr val="0F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3931920"/>
            <a:ext cx="3429000" cy="41148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0782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842E"/>
                </a:solidFill>
                <a:latin typeface="Calibri"/>
              </a:rPr>
              <a:t>顺序即依赖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4443984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8D1DB"/>
                </a:solidFill>
                <a:latin typeface="Calibri"/>
              </a:rPr>
              <a:t>bundle 的书写顺序就是 TLM 唯一会执行的依赖图；只追加、不排序。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3931920"/>
            <a:ext cx="3429000" cy="1417320"/>
          </a:xfrm>
          <a:prstGeom prst="rect">
            <a:avLst/>
          </a:prstGeom>
          <a:solidFill>
            <a:srgbClr val="0F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3931920"/>
            <a:ext cx="3429000" cy="41148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40782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842E"/>
                </a:solidFill>
                <a:latin typeface="Calibri"/>
              </a:rPr>
              <a:t>标记即状态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4443984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8D1DB"/>
                </a:solidFill>
                <a:latin typeface="Calibri"/>
              </a:rPr>
              <a:t>装没装只看 &lt;SKU&gt;.dts 与 .tlp_install；手工改动 = 改写工具的“现实”。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567" y="3931920"/>
            <a:ext cx="3429000" cy="1417320"/>
          </a:xfrm>
          <a:prstGeom prst="rect">
            <a:avLst/>
          </a:prstGeom>
          <a:solidFill>
            <a:srgbClr val="0F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7" y="3931920"/>
            <a:ext cx="3429000" cy="41148"/>
          </a:xfrm>
          <a:prstGeom prst="rect">
            <a:avLst/>
          </a:prstGeom>
          <a:solidFill>
            <a:srgbClr val="A88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3" y="40782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842E"/>
                </a:solidFill>
                <a:latin typeface="Calibri"/>
              </a:rPr>
              <a:t>冻结即真相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3" y="4443984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8D1DB"/>
                </a:solidFill>
                <a:latin typeface="Calibri"/>
              </a:rPr>
              <a:t>清单 + 定义 + 包 + 校验和四件套，才是“这一版能重来”的证据。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7150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1">
                <a:solidFill>
                  <a:srgbClr val="8A97A6"/>
                </a:solidFill>
                <a:latin typeface="Calibri"/>
              </a:rPr>
              <a:t>配套材料　</a:t>
            </a:r>
            <a:r>
              <a:rPr sz="1100" b="0">
                <a:solidFill>
                  <a:srgbClr val="C8D1DB"/>
                </a:solidFill>
                <a:latin typeface="Calibri"/>
              </a:rPr>
              <a:t>《TLM 使用手册》命令级规格与 26 条实测限制清单 · 《TLM Reference Book》双角色参考与案例 · contrib/ 四个扩展脚本（chk · gate · topo · verify）· 本课件 build 脚本与案例演示树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A8842E"/>
                </a:solidFill>
                <a:latin typeface="Calibri"/>
              </a:rPr>
              <a:t>下一步　</a:t>
            </a:r>
            <a:r>
              <a:rPr sz="1100" b="0">
                <a:solidFill>
                  <a:srgbClr val="C8D1DB"/>
                </a:solidFill>
                <a:latin typeface="Calibri"/>
              </a:rPr>
              <a:t>在你手头的项目里做一次“只依赖冻结档案”的复现演练，把结果贴在项目首页——这是全套治理最低成本的第一步。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27487" y="644652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D8B9C"/>
                </a:solidFill>
                <a:latin typeface="Georgia"/>
              </a:rPr>
              <a:t>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